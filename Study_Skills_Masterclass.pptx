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25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1131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Assumption: audience is secondary/high school students (roughly ages 14-18) with no prior formal study-skills instruction. Content is adapted from Study Skills For Dummies (Doreen du Boulay), which was written for university students — terminology and examples (tutors, seminars, campuses) have been translated into a school context (teachers, classes, school buildings) and simplified. Suggested pacing: this deck covers six units; treat each unit as a stand-alone 20-30 minute lesson rather than teaching all six in one sitting.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Chapters 1-4 of Study Skills For Dummies. University-specific detail (deans, matriculation, campus bureaucracy) has been trimmed; the transferable planning, self-advocacy and critical-thinking skills are kept and reframed for a school setting.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Chapters 5-8. 'Seminars' and 'tutorials' from the original text have been generalised into class discussion and small-group work; the underlying active-learning and note-taking skills transfer directly to a school setting.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Chapters 9-13. Academic-research-project language (hypothesis, qualitative/quantitative methods) is kept since these are genuinely useful skills for school research projects, science coursework and extended essays; heavily university-specific detail (doctoral supervision, university library systems) is omitted.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Chapters 14-16. University referencing-system detail is generalised to 'citing your sources' since exact citation formats vary by school/subject.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Chapters 17-19. University exam-specific detail (oral exam defences, disability accommodations processes specific to universities) trimmed to the transferable memory, revision-planning and exam-technique skills relevant to school exams.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Chapters 20-22, the book's own 'Part of Tens' bonus-tip chapters. Condensed to the six strongest, most transferable tips per chapter for a school audience rather than all ten, in line with keeping slides uncluttered.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B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4B43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3" name="Shape 1"/>
          <p:cNvSpPr/>
          <p:nvPr/>
        </p:nvSpPr>
        <p:spPr>
          <a:xfrm>
            <a:off x="9692640" y="-1645920"/>
            <a:ext cx="4754880" cy="4754880"/>
          </a:xfrm>
          <a:prstGeom prst="ellipse">
            <a:avLst/>
          </a:prstGeom>
          <a:solidFill>
            <a:srgbClr val="12332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4" name="Shape 2"/>
          <p:cNvSpPr/>
          <p:nvPr/>
        </p:nvSpPr>
        <p:spPr>
          <a:xfrm>
            <a:off x="10607040" y="4206240"/>
            <a:ext cx="3291840" cy="3291840"/>
          </a:xfrm>
          <a:prstGeom prst="ellipse">
            <a:avLst/>
          </a:prstGeom>
          <a:solidFill>
            <a:srgbClr val="7FB299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5" name="Shape 3"/>
          <p:cNvSpPr/>
          <p:nvPr/>
        </p:nvSpPr>
        <p:spPr>
          <a:xfrm>
            <a:off x="-1463040" y="4846320"/>
            <a:ext cx="3840480" cy="3840480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STUDY SKILLS COURSE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89611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Study Skills Masterclass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822960" y="406908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E4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smarter, not just harder — practical strategies for organising, thinking, researching, writing and exam success.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6126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AAC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Study Skills For Dummies by Doreen du Boulay  •  Adapted for secondary students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ROADMAP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We're Headed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75720" y="-502920"/>
            <a:ext cx="1463040" cy="1463040"/>
          </a:xfrm>
          <a:prstGeom prst="ellipse">
            <a:avLst/>
          </a:prstGeom>
          <a:solidFill>
            <a:srgbClr val="E4EFE8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F4F7F5"/>
          </a:solidFill>
          <a:ln w="12700">
            <a:solidFill>
              <a:srgbClr val="1B4B43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3566160" cy="502920"/>
          </a:xfrm>
          <a:prstGeom prst="roundRect">
            <a:avLst>
              <a:gd name="adj" fmla="val 18182"/>
            </a:avLst>
          </a:prstGeom>
          <a:solidFill>
            <a:srgbClr val="1B4B43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FCE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2359152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2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 Yourself Up for Success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31520" y="306324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 your school life, know your support network, think critically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51960" y="173736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F4F7F5"/>
          </a:solidFill>
          <a:ln w="12700">
            <a:solidFill>
              <a:srgbClr val="1B4B43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1" name="Shape 9"/>
          <p:cNvSpPr/>
          <p:nvPr/>
        </p:nvSpPr>
        <p:spPr>
          <a:xfrm>
            <a:off x="4251960" y="1737360"/>
            <a:ext cx="3566160" cy="502920"/>
          </a:xfrm>
          <a:prstGeom prst="roundRect">
            <a:avLst>
              <a:gd name="adj" fmla="val 18182"/>
            </a:avLst>
          </a:prstGeom>
          <a:solidFill>
            <a:srgbClr val="1B4B43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2" name="Text 10"/>
          <p:cNvSpPr/>
          <p:nvPr/>
        </p:nvSpPr>
        <p:spPr>
          <a:xfrm>
            <a:off x="4251960" y="17373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FCE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434840" y="2359152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2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Becoming an Active Learner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434840" y="306324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more from lessons, group work, note-taking and feedback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955280" y="173736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F4F7F5"/>
          </a:solidFill>
          <a:ln w="12700">
            <a:solidFill>
              <a:srgbClr val="1B4B43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6" name="Shape 14"/>
          <p:cNvSpPr/>
          <p:nvPr/>
        </p:nvSpPr>
        <p:spPr>
          <a:xfrm>
            <a:off x="7955280" y="1737360"/>
            <a:ext cx="3566160" cy="502920"/>
          </a:xfrm>
          <a:prstGeom prst="roundRect">
            <a:avLst>
              <a:gd name="adj" fmla="val 18182"/>
            </a:avLst>
          </a:prstGeom>
          <a:solidFill>
            <a:srgbClr val="1B4B43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7" name="Text 15"/>
          <p:cNvSpPr/>
          <p:nvPr/>
        </p:nvSpPr>
        <p:spPr>
          <a:xfrm>
            <a:off x="7955280" y="17373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FCE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138160" y="2359152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2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Gathering Your Evidence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138160" y="306324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methods, reading strategically, evaluating sources, data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06908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F4F7F5"/>
          </a:solidFill>
          <a:ln w="12700">
            <a:solidFill>
              <a:srgbClr val="1B4B43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1" name="Shape 19"/>
          <p:cNvSpPr/>
          <p:nvPr/>
        </p:nvSpPr>
        <p:spPr>
          <a:xfrm>
            <a:off x="548640" y="4069080"/>
            <a:ext cx="3566160" cy="502920"/>
          </a:xfrm>
          <a:prstGeom prst="roundRect">
            <a:avLst>
              <a:gd name="adj" fmla="val 18182"/>
            </a:avLst>
          </a:prstGeom>
          <a:solidFill>
            <a:srgbClr val="1B4B43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22" name="Text 20"/>
          <p:cNvSpPr/>
          <p:nvPr/>
        </p:nvSpPr>
        <p:spPr>
          <a:xfrm>
            <a:off x="548640" y="40690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FCE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4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31520" y="4690872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2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It Down on Paper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31520" y="539496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Planning, structuring and polishing your writing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251960" y="406908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F4F7F5"/>
          </a:solidFill>
          <a:ln w="12700">
            <a:solidFill>
              <a:srgbClr val="1B4B43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6" name="Shape 24"/>
          <p:cNvSpPr/>
          <p:nvPr/>
        </p:nvSpPr>
        <p:spPr>
          <a:xfrm>
            <a:off x="4251960" y="4069080"/>
            <a:ext cx="3566160" cy="502920"/>
          </a:xfrm>
          <a:prstGeom prst="roundRect">
            <a:avLst>
              <a:gd name="adj" fmla="val 18182"/>
            </a:avLst>
          </a:prstGeom>
          <a:solidFill>
            <a:srgbClr val="1B4B43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27" name="Text 25"/>
          <p:cNvSpPr/>
          <p:nvPr/>
        </p:nvSpPr>
        <p:spPr>
          <a:xfrm>
            <a:off x="4251960" y="40690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FCE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5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434840" y="4690872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2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Surviving (and Enjoying) Exams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4434840" y="539496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strategies, revision planning, exam-day skills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955280" y="406908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F4F7F5"/>
          </a:solidFill>
          <a:ln w="12700">
            <a:solidFill>
              <a:srgbClr val="1B4B43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31" name="Shape 29"/>
          <p:cNvSpPr/>
          <p:nvPr/>
        </p:nvSpPr>
        <p:spPr>
          <a:xfrm>
            <a:off x="7955280" y="4069080"/>
            <a:ext cx="3566160" cy="502920"/>
          </a:xfrm>
          <a:prstGeom prst="roundRect">
            <a:avLst>
              <a:gd name="adj" fmla="val 18182"/>
            </a:avLst>
          </a:prstGeom>
          <a:solidFill>
            <a:srgbClr val="1B4B43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32" name="Text 30"/>
          <p:cNvSpPr/>
          <p:nvPr/>
        </p:nvSpPr>
        <p:spPr>
          <a:xfrm>
            <a:off x="7955280" y="40690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FCE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6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138160" y="4690872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2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Part of Tens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8138160" y="539496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Bite-sized bonus tips for time, fun and essay writing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Roadmap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Skills Masterclass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BEGIN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Intentions &amp; Success Criteria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75720" y="-502920"/>
            <a:ext cx="1463040" cy="1463040"/>
          </a:xfrm>
          <a:prstGeom prst="ellipse">
            <a:avLst/>
          </a:prstGeom>
          <a:solidFill>
            <a:srgbClr val="E4EFE8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learning how to manage our own learning — the habits and strategies that make school work easier and less stressful.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2368296"/>
            <a:ext cx="219456" cy="219456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7" name="Text 5"/>
          <p:cNvSpPr/>
          <p:nvPr/>
        </p:nvSpPr>
        <p:spPr>
          <a:xfrm>
            <a:off x="1051560" y="226771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organise my time, materials and support network so I'm not scrambling at the last minute.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94360" y="2880360"/>
            <a:ext cx="219456" cy="219456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9" name="Text 7"/>
          <p:cNvSpPr/>
          <p:nvPr/>
        </p:nvSpPr>
        <p:spPr>
          <a:xfrm>
            <a:off x="1051560" y="2779776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think critically about information instead of just accepting or copying it.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94360" y="3392424"/>
            <a:ext cx="219456" cy="219456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1" name="Text 9"/>
          <p:cNvSpPr/>
          <p:nvPr/>
        </p:nvSpPr>
        <p:spPr>
          <a:xfrm>
            <a:off x="1051560" y="32918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take useful notes, research a topic, and judge whether a source is trustworthy.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94360" y="3904488"/>
            <a:ext cx="219456" cy="219456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3" name="Text 11"/>
          <p:cNvSpPr/>
          <p:nvPr/>
        </p:nvSpPr>
        <p:spPr>
          <a:xfrm>
            <a:off x="1051560" y="3803904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plan and structure a piece of writing so it clearly answers the question.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94360" y="4416552"/>
            <a:ext cx="219456" cy="219456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5" name="Text 13"/>
          <p:cNvSpPr/>
          <p:nvPr/>
        </p:nvSpPr>
        <p:spPr>
          <a:xfrm>
            <a:off x="1051560" y="43159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memory techniques and a revision plan to walk into an exam feeling ready, not panicked.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548640" y="498348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E4EFE8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7" name="Text 15"/>
          <p:cNvSpPr/>
          <p:nvPr/>
        </p:nvSpPr>
        <p:spPr>
          <a:xfrm>
            <a:off x="777240" y="49834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2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Assumption: this course assumes access to a school library or online catalogue, and a device for note-taking or research where needed. Adjust examples to your own school's resources.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Intentions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Skills Masterclass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4B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486400" cy="5486400"/>
          </a:xfrm>
          <a:prstGeom prst="ellipse">
            <a:avLst/>
          </a:prstGeom>
          <a:solidFill>
            <a:srgbClr val="12332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4" name="Text 2"/>
          <p:cNvSpPr/>
          <p:nvPr/>
        </p:nvSpPr>
        <p:spPr>
          <a:xfrm>
            <a:off x="914400" y="1965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42316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 Yourself Up for Success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60120" y="39776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450" dirty="0">
                <a:solidFill>
                  <a:srgbClr val="DC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school and your timetable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60120" y="4361688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450" dirty="0">
                <a:solidFill>
                  <a:srgbClr val="DC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support relationships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60120" y="4745736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450" dirty="0">
                <a:solidFill>
                  <a:srgbClr val="DC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critically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60120" y="5129784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450" dirty="0">
                <a:solidFill>
                  <a:srgbClr val="DC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technology wisely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· PLANNING FOR SUCCESS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 Your School Inside Out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75720" y="-502920"/>
            <a:ext cx="1463040" cy="1463040"/>
          </a:xfrm>
          <a:prstGeom prst="ellipse">
            <a:avLst/>
          </a:prstGeom>
          <a:solidFill>
            <a:srgbClr val="E4EFE8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1B4B43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25880" y="1709928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the key places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325880" y="2048256"/>
            <a:ext cx="10241280" cy="1203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Classrooms, library, IT room, counsellor's office, nurse's office, toilets near your usual rooms. Spend one lunchtime walking your whole timetable before the term gets busy.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30708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7FB299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0" name="Text 8"/>
          <p:cNvSpPr/>
          <p:nvPr/>
        </p:nvSpPr>
        <p:spPr>
          <a:xfrm>
            <a:off x="548640" y="33070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25880" y="3279648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'who's who' list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325880" y="3617976"/>
            <a:ext cx="10241280" cy="1203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each teacher's name, room, and the best way to contact them (email, office hour, after class). Keep it in the front of your planner or notes app.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87680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1B4B43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4" name="Text 12"/>
          <p:cNvSpPr/>
          <p:nvPr/>
        </p:nvSpPr>
        <p:spPr>
          <a:xfrm>
            <a:off x="548640" y="48768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25880" y="4849368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rules that affect you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1325880" y="5187696"/>
            <a:ext cx="10241280" cy="1203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Late-work policies, how absences are handled, and where to find your assessment calendar — knowing these before you need them saves stress later.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Skills Masterclass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· PLANNING FOR SUCCESS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Weekly Study Timetable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75720" y="-502920"/>
            <a:ext cx="1463040" cy="1463040"/>
          </a:xfrm>
          <a:prstGeom prst="ellipse">
            <a:avLst/>
          </a:prstGeom>
          <a:solidFill>
            <a:srgbClr val="E4EFE8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timetable is your roadmap — it shows how much of your week is already structured, and where the gaps are.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2368296"/>
            <a:ext cx="219456" cy="219456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7" name="Text 5"/>
          <p:cNvSpPr/>
          <p:nvPr/>
        </p:nvSpPr>
        <p:spPr>
          <a:xfrm>
            <a:off x="1051560" y="226771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by blocking in fixed commitments: classes, sports, jobs, family time.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94360" y="2880360"/>
            <a:ext cx="219456" cy="219456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9" name="Text 7"/>
          <p:cNvSpPr/>
          <p:nvPr/>
        </p:nvSpPr>
        <p:spPr>
          <a:xfrm>
            <a:off x="1051560" y="2779776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short prep blocks right after a lesson, while the content is still fresh — even 20 minutes helps.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94360" y="3392424"/>
            <a:ext cx="219456" cy="219456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1" name="Text 9"/>
          <p:cNvSpPr/>
          <p:nvPr/>
        </p:nvSpPr>
        <p:spPr>
          <a:xfrm>
            <a:off x="1051560" y="32918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at least one properly free evening and most of the weekend; a schedule with zero breathing room won't survive contact with real life.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94360" y="4014216"/>
            <a:ext cx="219456" cy="219456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3" name="Text 11"/>
          <p:cNvSpPr/>
          <p:nvPr/>
        </p:nvSpPr>
        <p:spPr>
          <a:xfrm>
            <a:off x="1051560" y="391363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timetable visible — on your wall, phone lock screen, or the front of your planner.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48640" y="4581144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E4EFE8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5" name="Text 13"/>
          <p:cNvSpPr/>
          <p:nvPr/>
        </p:nvSpPr>
        <p:spPr>
          <a:xfrm>
            <a:off x="777240" y="4581144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2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connection: professionals use exactly this habit — blocking calendars around fixed meetings — to stay in control of unpredictable weeks.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Timetable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Skills Masterclass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· PLANNING FOR SUCCESS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a Learning Diary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75720" y="-502920"/>
            <a:ext cx="1463040" cy="1463040"/>
          </a:xfrm>
          <a:prstGeom prst="ellipse">
            <a:avLst/>
          </a:prstGeom>
          <a:solidFill>
            <a:srgbClr val="E4EFE8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daily or weekly log of what you studied and how it went is one of the simplest habits that pays off at exam time.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2368296"/>
            <a:ext cx="219456" cy="219456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7" name="Text 5"/>
          <p:cNvSpPr/>
          <p:nvPr/>
        </p:nvSpPr>
        <p:spPr>
          <a:xfrm>
            <a:off x="1051560" y="226771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Jot down what you covered, what confused you, and one question to ask your teacher.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94360" y="2880360"/>
            <a:ext cx="219456" cy="219456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9" name="Text 7"/>
          <p:cNvSpPr/>
          <p:nvPr/>
        </p:nvSpPr>
        <p:spPr>
          <a:xfrm>
            <a:off x="1051560" y="2779776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you get a grade back, note what you'd do differently — this turns one-off feedback into a pattern you can actually use.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94360" y="3502152"/>
            <a:ext cx="219456" cy="219456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1" name="Text 9"/>
          <p:cNvSpPr/>
          <p:nvPr/>
        </p:nvSpPr>
        <p:spPr>
          <a:xfrm>
            <a:off x="1051560" y="34015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doesn't need to be fancy: a notebook, a notes app, or even the back pages of your planner all work.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48640" y="406908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E4EFE8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3" name="Text 11"/>
          <p:cNvSpPr/>
          <p:nvPr/>
        </p:nvSpPr>
        <p:spPr>
          <a:xfrm>
            <a:off x="777240" y="40690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2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it's hard to notice your own progress in the moment. A diary lets you look back and see how far you've actually come.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Diary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Skills Masterclass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· TEACHERS AND STUDENT SUPPORT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 Your Support Network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75720" y="-502920"/>
            <a:ext cx="1463040" cy="1463040"/>
          </a:xfrm>
          <a:prstGeom prst="ellipse">
            <a:avLst/>
          </a:prstGeom>
          <a:solidFill>
            <a:srgbClr val="E4EFE8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1B4B43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25880" y="1709928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teachers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325880" y="2048256"/>
            <a:ext cx="10241280" cy="1203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stop for questions about coursework, feedback, or catching up after an absence.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30708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7FB299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0" name="Text 8"/>
          <p:cNvSpPr/>
          <p:nvPr/>
        </p:nvSpPr>
        <p:spPr>
          <a:xfrm>
            <a:off x="548640" y="33070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25880" y="3279648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tutor / pastoral staff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325880" y="3617976"/>
            <a:ext cx="10241280" cy="1203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bigger, ongoing concerns — workload, wellbeing, or problems that affect more than one subject.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87680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1B4B43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4" name="Text 12"/>
          <p:cNvSpPr/>
          <p:nvPr/>
        </p:nvSpPr>
        <p:spPr>
          <a:xfrm>
            <a:off x="548640" y="48768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25880" y="4849368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counsellor or student support office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1325880" y="5187696"/>
            <a:ext cx="10241280" cy="1203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help with stress, personal issues, or anything getting in the way of your learning. Asking for help early is a skill, not a weakness.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Skills Masterclass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· TEACHERS AND STUDENT SUPPORT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Behaviour, Responsibility &amp; Integrity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75720" y="-502920"/>
            <a:ext cx="1463040" cy="1463040"/>
          </a:xfrm>
          <a:prstGeom prst="ellipse">
            <a:avLst/>
          </a:prstGeom>
          <a:solidFill>
            <a:srgbClr val="E4EFE8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5" name="Shape 3"/>
          <p:cNvSpPr/>
          <p:nvPr/>
        </p:nvSpPr>
        <p:spPr>
          <a:xfrm>
            <a:off x="594360" y="1682496"/>
            <a:ext cx="219456" cy="219456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6" name="Text 4"/>
          <p:cNvSpPr/>
          <p:nvPr/>
        </p:nvSpPr>
        <p:spPr>
          <a:xfrm>
            <a:off x="1051560" y="158191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school has its own culture — notice how staff and students interact, and match a respectful, professional tone.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94360" y="2304288"/>
            <a:ext cx="219456" cy="219456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8" name="Text 6"/>
          <p:cNvSpPr/>
          <p:nvPr/>
        </p:nvSpPr>
        <p:spPr>
          <a:xfrm>
            <a:off x="1051560" y="2203704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responsible for knowing deadlines and submission rules; 'I didn't know' rarely helps once a policy has been explained.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94360" y="2926080"/>
            <a:ext cx="219456" cy="219456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0" name="Text 8"/>
          <p:cNvSpPr/>
          <p:nvPr/>
        </p:nvSpPr>
        <p:spPr>
          <a:xfrm>
            <a:off x="1051560" y="2825496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Plagiarism — presenting someone else's words or ideas as your own — is taken seriously at every level of education. Always credit your sources, even in informal work.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594360" y="3547872"/>
            <a:ext cx="219456" cy="219456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2" name="Text 10"/>
          <p:cNvSpPr/>
          <p:nvPr/>
        </p:nvSpPr>
        <p:spPr>
          <a:xfrm>
            <a:off x="1051560" y="344728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something goes wrong (a missed deadline, a family emergency), tell a teacher as early as possible — most problems are easier to solve before the deadline than after.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 &amp; Responsibility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Skills Masterclass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· BECOMING A CRITICAL THINKER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Vocabulary: Critical Thinking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75720" y="-502920"/>
            <a:ext cx="1463040" cy="1463040"/>
          </a:xfrm>
          <a:prstGeom prst="ellipse">
            <a:avLst/>
          </a:prstGeom>
          <a:solidFill>
            <a:srgbClr val="E4EFE8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49240" cy="4434840"/>
          </a:xfrm>
          <a:prstGeom prst="roundRect">
            <a:avLst>
              <a:gd name="adj" fmla="val 2062"/>
            </a:avLst>
          </a:prstGeom>
          <a:solidFill>
            <a:srgbClr val="F4F7F5"/>
          </a:solidFill>
          <a:ln w="12700">
            <a:solidFill>
              <a:srgbClr val="1B4B43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349240" cy="685800"/>
          </a:xfrm>
          <a:prstGeom prst="rect">
            <a:avLst/>
          </a:prstGeom>
          <a:solidFill>
            <a:srgbClr val="1B4B43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5349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 Thinking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51460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/ˈkrɪtɪkəl ˈθɪŋkɪŋ/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77240" y="288036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7240" y="3172968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Carefully examining information and reasoning before accepting a claim as true — rather than believing something just because it was said confidently or repeated often.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7240" y="4041648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77240" y="4334256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2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assuming a viral post is true, you check who wrote it, what evidence they give, and whether other reliable sources agree.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5157216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Not the same as being negative or arguing for the sake of it — it's about being fair and thorough.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1691640"/>
            <a:ext cx="5349240" cy="4434840"/>
          </a:xfrm>
          <a:prstGeom prst="roundRect">
            <a:avLst>
              <a:gd name="adj" fmla="val 2062"/>
            </a:avLst>
          </a:prstGeom>
          <a:solidFill>
            <a:srgbClr val="F4F7F5"/>
          </a:solidFill>
          <a:ln w="12700">
            <a:solidFill>
              <a:srgbClr val="1B4B43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5" name="Shape 13"/>
          <p:cNvSpPr/>
          <p:nvPr/>
        </p:nvSpPr>
        <p:spPr>
          <a:xfrm>
            <a:off x="6263640" y="1691640"/>
            <a:ext cx="5349240" cy="685800"/>
          </a:xfrm>
          <a:prstGeom prst="rect">
            <a:avLst/>
          </a:prstGeom>
          <a:solidFill>
            <a:srgbClr val="1B4B43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6" name="Text 14"/>
          <p:cNvSpPr/>
          <p:nvPr/>
        </p:nvSpPr>
        <p:spPr>
          <a:xfrm>
            <a:off x="6263640" y="1691640"/>
            <a:ext cx="5349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92240" y="251460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/ˈɛvɪdəns/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288036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92240" y="3172968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facts, data, or examples used to support a claim or argument.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92240" y="4041648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92240" y="4334256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2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'Rates of the disease fell after the campaign' is a claim; the statistics showing the actual drop are the evidence.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92240" y="5157216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An opinion repeated many times is still not evidence — check where the numbers or facts actually come from.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Skills Masterclass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· BECOMING A CRITICAL THINKER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 a Claim Like a Critical Thinker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75720" y="-502920"/>
            <a:ext cx="1463040" cy="1463040"/>
          </a:xfrm>
          <a:prstGeom prst="ellipse">
            <a:avLst/>
          </a:prstGeom>
          <a:solidFill>
            <a:srgbClr val="E4EFE8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526030" cy="3383280"/>
          </a:xfrm>
          <a:prstGeom prst="roundRect">
            <a:avLst>
              <a:gd name="adj" fmla="val 3620"/>
            </a:avLst>
          </a:prstGeom>
          <a:solidFill>
            <a:srgbClr val="E4EFE8"/>
          </a:solidFill>
          <a:ln w="12700">
            <a:solidFill>
              <a:srgbClr val="1B4B43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6" name="Shape 4"/>
          <p:cNvSpPr/>
          <p:nvPr/>
        </p:nvSpPr>
        <p:spPr>
          <a:xfrm>
            <a:off x="1491615" y="1783080"/>
            <a:ext cx="640080" cy="640080"/>
          </a:xfrm>
          <a:prstGeom prst="ellipse">
            <a:avLst/>
          </a:prstGeom>
          <a:solidFill>
            <a:srgbClr val="E8871E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7" name="Text 5"/>
          <p:cNvSpPr/>
          <p:nvPr/>
        </p:nvSpPr>
        <p:spPr>
          <a:xfrm>
            <a:off x="1491615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2560320"/>
            <a:ext cx="216027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2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claim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216027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exactly is being argued?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74670" y="352044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FB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394710" y="2103120"/>
            <a:ext cx="2526030" cy="3383280"/>
          </a:xfrm>
          <a:prstGeom prst="roundRect">
            <a:avLst>
              <a:gd name="adj" fmla="val 3620"/>
            </a:avLst>
          </a:prstGeom>
          <a:solidFill>
            <a:srgbClr val="F4F7F5"/>
          </a:solidFill>
          <a:ln w="12700">
            <a:solidFill>
              <a:srgbClr val="1B4B43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2" name="Shape 10"/>
          <p:cNvSpPr/>
          <p:nvPr/>
        </p:nvSpPr>
        <p:spPr>
          <a:xfrm>
            <a:off x="4337685" y="1783080"/>
            <a:ext cx="640080" cy="640080"/>
          </a:xfrm>
          <a:prstGeom prst="ellipse">
            <a:avLst/>
          </a:prstGeom>
          <a:solidFill>
            <a:srgbClr val="E8871E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3" name="Text 11"/>
          <p:cNvSpPr/>
          <p:nvPr/>
        </p:nvSpPr>
        <p:spPr>
          <a:xfrm>
            <a:off x="4337685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577590" y="2560320"/>
            <a:ext cx="216027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2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evidence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577590" y="3291840"/>
            <a:ext cx="216027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backed by facts, data or credible sources — or just asserted?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20740" y="352044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FB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40780" y="2103120"/>
            <a:ext cx="2526030" cy="3383280"/>
          </a:xfrm>
          <a:prstGeom prst="roundRect">
            <a:avLst>
              <a:gd name="adj" fmla="val 3620"/>
            </a:avLst>
          </a:prstGeom>
          <a:solidFill>
            <a:srgbClr val="E4EFE8"/>
          </a:solidFill>
          <a:ln w="12700">
            <a:solidFill>
              <a:srgbClr val="1B4B43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8" name="Shape 16"/>
          <p:cNvSpPr/>
          <p:nvPr/>
        </p:nvSpPr>
        <p:spPr>
          <a:xfrm>
            <a:off x="7183755" y="1783080"/>
            <a:ext cx="640080" cy="640080"/>
          </a:xfrm>
          <a:prstGeom prst="ellipse">
            <a:avLst/>
          </a:prstGeom>
          <a:solidFill>
            <a:srgbClr val="E8871E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9" name="Text 17"/>
          <p:cNvSpPr/>
          <p:nvPr/>
        </p:nvSpPr>
        <p:spPr>
          <a:xfrm>
            <a:off x="7183755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423660" y="2560320"/>
            <a:ext cx="216027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2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other views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23660" y="3291840"/>
            <a:ext cx="216027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someone who disagrees say?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766810" y="352044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FB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9086850" y="2103120"/>
            <a:ext cx="2526030" cy="3383280"/>
          </a:xfrm>
          <a:prstGeom prst="roundRect">
            <a:avLst>
              <a:gd name="adj" fmla="val 3620"/>
            </a:avLst>
          </a:prstGeom>
          <a:solidFill>
            <a:srgbClr val="F4F7F5"/>
          </a:solidFill>
          <a:ln w="12700">
            <a:solidFill>
              <a:srgbClr val="1B4B43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4" name="Shape 22"/>
          <p:cNvSpPr/>
          <p:nvPr/>
        </p:nvSpPr>
        <p:spPr>
          <a:xfrm>
            <a:off x="10029825" y="1783080"/>
            <a:ext cx="640080" cy="640080"/>
          </a:xfrm>
          <a:prstGeom prst="ellipse">
            <a:avLst/>
          </a:prstGeom>
          <a:solidFill>
            <a:srgbClr val="E8871E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5" name="Text 23"/>
          <p:cNvSpPr/>
          <p:nvPr/>
        </p:nvSpPr>
        <p:spPr>
          <a:xfrm>
            <a:off x="10029825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269730" y="2560320"/>
            <a:ext cx="216027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2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your own view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9269730" y="3291840"/>
            <a:ext cx="216027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your position and why, based on what you found.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Skills Masterclass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· DIGITAL SKILLS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Technology Wisely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75720" y="-502920"/>
            <a:ext cx="1463040" cy="1463040"/>
          </a:xfrm>
          <a:prstGeom prst="ellipse">
            <a:avLst/>
          </a:prstGeom>
          <a:solidFill>
            <a:srgbClr val="E4EFE8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1B4B43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25880" y="1709928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right tool for the job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325880" y="2048256"/>
            <a:ext cx="10241280" cy="1203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processor for essays, spreadsheet for data, a shared document for group work. Learn the basics of each before you need them for a deadline.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30708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7FB299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0" name="Text 8"/>
          <p:cNvSpPr/>
          <p:nvPr/>
        </p:nvSpPr>
        <p:spPr>
          <a:xfrm>
            <a:off x="548640" y="33070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25880" y="3279648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your work and your time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325880" y="3617976"/>
            <a:ext cx="10241280" cy="1203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up files in more than one place (cloud + device), and use website/app blockers during study blocks if notifications distract you.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87680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1B4B43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4" name="Text 12"/>
          <p:cNvSpPr/>
          <p:nvPr/>
        </p:nvSpPr>
        <p:spPr>
          <a:xfrm>
            <a:off x="548640" y="48768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25880" y="4849368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 common pitfalls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1325880" y="5187696"/>
            <a:ext cx="10241280" cy="1203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Copy-pasting information without understanding it, trusting the first search result blindly, and losing hours to 'research' that's really browsing.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Skills Masterclass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Check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75720" y="-502920"/>
            <a:ext cx="1463040" cy="1463040"/>
          </a:xfrm>
          <a:prstGeom prst="ellipse">
            <a:avLst/>
          </a:prstGeom>
          <a:solidFill>
            <a:srgbClr val="E4EFE8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4F7F5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6" name="Text 4"/>
          <p:cNvSpPr/>
          <p:nvPr/>
        </p:nvSpPr>
        <p:spPr>
          <a:xfrm>
            <a:off x="822960" y="16916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Amara has a science project due Friday and a family event Wednesday evening that clashes with her usual study slot.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the best first move, based on what we've covered in this unit?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48640" y="365760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7FB299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9" name="Shape 7"/>
          <p:cNvSpPr/>
          <p:nvPr/>
        </p:nvSpPr>
        <p:spPr>
          <a:xfrm>
            <a:off x="713232" y="3776472"/>
            <a:ext cx="329184" cy="329184"/>
          </a:xfrm>
          <a:prstGeom prst="ellipse">
            <a:avLst/>
          </a:prstGeom>
          <a:solidFill>
            <a:srgbClr val="1B4B43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0" name="Text 8"/>
          <p:cNvSpPr/>
          <p:nvPr/>
        </p:nvSpPr>
        <p:spPr>
          <a:xfrm>
            <a:off x="713232" y="37764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34440" y="3657600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the project and hope the teacher doesn't notice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34340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7FB299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3" name="Shape 11"/>
          <p:cNvSpPr/>
          <p:nvPr/>
        </p:nvSpPr>
        <p:spPr>
          <a:xfrm>
            <a:off x="713232" y="4462272"/>
            <a:ext cx="329184" cy="329184"/>
          </a:xfrm>
          <a:prstGeom prst="ellipse">
            <a:avLst/>
          </a:prstGeom>
          <a:solidFill>
            <a:srgbClr val="1B4B43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4" name="Text 12"/>
          <p:cNvSpPr/>
          <p:nvPr/>
        </p:nvSpPr>
        <p:spPr>
          <a:xfrm>
            <a:off x="713232" y="44622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34440" y="4343400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Rearrange her weekly timetable and, if needed, tell her teacher early that Wednesday evening is unavailable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02920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7FB299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7" name="Shape 15"/>
          <p:cNvSpPr/>
          <p:nvPr/>
        </p:nvSpPr>
        <p:spPr>
          <a:xfrm>
            <a:off x="713232" y="5148072"/>
            <a:ext cx="329184" cy="329184"/>
          </a:xfrm>
          <a:prstGeom prst="ellipse">
            <a:avLst/>
          </a:prstGeom>
          <a:solidFill>
            <a:srgbClr val="1B4B43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8" name="Text 16"/>
          <p:cNvSpPr/>
          <p:nvPr/>
        </p:nvSpPr>
        <p:spPr>
          <a:xfrm>
            <a:off x="713232" y="51480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34440" y="5029200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until Thursday night and pull an all-nighter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571500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7FB299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1" name="Shape 19"/>
          <p:cNvSpPr/>
          <p:nvPr/>
        </p:nvSpPr>
        <p:spPr>
          <a:xfrm>
            <a:off x="713232" y="5833872"/>
            <a:ext cx="329184" cy="329184"/>
          </a:xfrm>
          <a:prstGeom prst="ellipse">
            <a:avLst/>
          </a:prstGeom>
          <a:solidFill>
            <a:srgbClr val="1B4B43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22" name="Text 20"/>
          <p:cNvSpPr/>
          <p:nvPr/>
        </p:nvSpPr>
        <p:spPr>
          <a:xfrm>
            <a:off x="713232" y="58338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34440" y="5715000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a friend's project and change a few words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through to the next slide to check the answer →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Skills Masterclass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Check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75720" y="-502920"/>
            <a:ext cx="1463040" cy="1463040"/>
          </a:xfrm>
          <a:prstGeom prst="ellipse">
            <a:avLst/>
          </a:prstGeom>
          <a:solidFill>
            <a:srgbClr val="E4EFE8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4F7F5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6" name="Text 4"/>
          <p:cNvSpPr/>
          <p:nvPr/>
        </p:nvSpPr>
        <p:spPr>
          <a:xfrm>
            <a:off x="822960" y="16916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Amara has a science project due Friday and a family event Wednesday evening that clashes with her usual study slot.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the best first move, based on what we've covered in this unit?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48640" y="365760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7FB299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9" name="Shape 7"/>
          <p:cNvSpPr/>
          <p:nvPr/>
        </p:nvSpPr>
        <p:spPr>
          <a:xfrm>
            <a:off x="713232" y="3776472"/>
            <a:ext cx="329184" cy="329184"/>
          </a:xfrm>
          <a:prstGeom prst="ellipse">
            <a:avLst/>
          </a:prstGeom>
          <a:solidFill>
            <a:srgbClr val="1B4B43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0" name="Text 8"/>
          <p:cNvSpPr/>
          <p:nvPr/>
        </p:nvSpPr>
        <p:spPr>
          <a:xfrm>
            <a:off x="713232" y="37764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34440" y="3657600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the project and hope the teacher doesn't notice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34340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CE8D2"/>
          </a:solidFill>
          <a:ln w="25400">
            <a:solidFill>
              <a:srgbClr val="E8871E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3" name="Shape 11"/>
          <p:cNvSpPr/>
          <p:nvPr/>
        </p:nvSpPr>
        <p:spPr>
          <a:xfrm>
            <a:off x="713232" y="4462272"/>
            <a:ext cx="329184" cy="329184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4" name="Text 12"/>
          <p:cNvSpPr/>
          <p:nvPr/>
        </p:nvSpPr>
        <p:spPr>
          <a:xfrm>
            <a:off x="713232" y="44622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34440" y="4343400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Rearrange her weekly timetable and, if needed, tell her teacher early that Wednesday evening is unavailable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02920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7FB299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7" name="Shape 15"/>
          <p:cNvSpPr/>
          <p:nvPr/>
        </p:nvSpPr>
        <p:spPr>
          <a:xfrm>
            <a:off x="713232" y="5148072"/>
            <a:ext cx="329184" cy="329184"/>
          </a:xfrm>
          <a:prstGeom prst="ellipse">
            <a:avLst/>
          </a:prstGeom>
          <a:solidFill>
            <a:srgbClr val="1B4B43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8" name="Text 16"/>
          <p:cNvSpPr/>
          <p:nvPr/>
        </p:nvSpPr>
        <p:spPr>
          <a:xfrm>
            <a:off x="713232" y="51480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34440" y="5029200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until Thursday night and pull an all-nighter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571500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7FB299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1" name="Shape 19"/>
          <p:cNvSpPr/>
          <p:nvPr/>
        </p:nvSpPr>
        <p:spPr>
          <a:xfrm>
            <a:off x="713232" y="5833872"/>
            <a:ext cx="329184" cy="329184"/>
          </a:xfrm>
          <a:prstGeom prst="ellipse">
            <a:avLst/>
          </a:prstGeom>
          <a:solidFill>
            <a:srgbClr val="1B4B43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22" name="Text 20"/>
          <p:cNvSpPr/>
          <p:nvPr/>
        </p:nvSpPr>
        <p:spPr>
          <a:xfrm>
            <a:off x="713232" y="58338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34440" y="5715000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a friend's project and change a few words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6446520"/>
            <a:ext cx="11064240" cy="0"/>
          </a:xfrm>
          <a:prstGeom prst="roundRect">
            <a:avLst>
              <a:gd name="adj" fmla="val Infinity"/>
            </a:avLst>
          </a:prstGeom>
          <a:solidFill>
            <a:srgbClr val="E4EFE8"/>
          </a:solidFill>
          <a:ln/>
        </p:spPr>
        <p:txBody>
          <a:bodyPr/>
          <a:lstStyle/>
          <a:p>
            <a:endParaRPr lang="en-NZ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4B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486400" cy="5486400"/>
          </a:xfrm>
          <a:prstGeom prst="ellipse">
            <a:avLst/>
          </a:prstGeom>
          <a:solidFill>
            <a:srgbClr val="12332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FB299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4" name="Text 2"/>
          <p:cNvSpPr/>
          <p:nvPr/>
        </p:nvSpPr>
        <p:spPr>
          <a:xfrm>
            <a:off x="914400" y="1965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7FB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42316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Becoming an Active Learner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60120" y="39776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7FB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450" dirty="0">
                <a:solidFill>
                  <a:srgbClr val="DC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more from every lesson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60120" y="4361688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7FB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450" dirty="0">
                <a:solidFill>
                  <a:srgbClr val="DC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group work actually work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60120" y="4745736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7FB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450" dirty="0">
                <a:solidFill>
                  <a:srgbClr val="DC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useful notes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60120" y="5129784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7FB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450" dirty="0">
                <a:solidFill>
                  <a:srgbClr val="DC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feedback to improve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· ACTIVE LEARNING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Ready Before Class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75720" y="-502920"/>
            <a:ext cx="1463040" cy="1463040"/>
          </a:xfrm>
          <a:prstGeom prst="ellipse">
            <a:avLst/>
          </a:prstGeom>
          <a:solidFill>
            <a:srgbClr val="E4EFE8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1B4B43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25880" y="1709928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the material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325880" y="2048256"/>
            <a:ext cx="10241280" cy="1203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Skim any assigned reading or last lesson's notes for five minutes before class — you'll follow new material faster if it connects to something familiar.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30708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7FB299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0" name="Text 8"/>
          <p:cNvSpPr/>
          <p:nvPr/>
        </p:nvSpPr>
        <p:spPr>
          <a:xfrm>
            <a:off x="548640" y="33070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25880" y="3279648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a question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325880" y="3617976"/>
            <a:ext cx="10241280" cy="1203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 in with one thing you're unsure about turns you from a passive listener into an active participant.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87680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1B4B43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4" name="Text 12"/>
          <p:cNvSpPr/>
          <p:nvPr/>
        </p:nvSpPr>
        <p:spPr>
          <a:xfrm>
            <a:off x="548640" y="48768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25880" y="4849368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 where you can engage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1325880" y="5187696"/>
            <a:ext cx="10241280" cy="1203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 sit affects how easily you can see, hear, and take part — choose it on purpose, not by habit.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Skills Masterclass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· ACTIVE LEARNING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the Most from Class Discussion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75720" y="-502920"/>
            <a:ext cx="1463040" cy="1463040"/>
          </a:xfrm>
          <a:prstGeom prst="ellipse">
            <a:avLst/>
          </a:prstGeom>
          <a:solidFill>
            <a:srgbClr val="E4EFE8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 discussion works best when people actually listen and build on each other's ideas, not just wait for their turn to talk.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2368296"/>
            <a:ext cx="219456" cy="219456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7" name="Text 5"/>
          <p:cNvSpPr/>
          <p:nvPr/>
        </p:nvSpPr>
        <p:spPr>
          <a:xfrm>
            <a:off x="1051560" y="226771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down ideas as they come up, even briefly — you can't rely on memory alone once several people have spoken.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94360" y="2990088"/>
            <a:ext cx="219456" cy="219456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9" name="Text 7"/>
          <p:cNvSpPr/>
          <p:nvPr/>
        </p:nvSpPr>
        <p:spPr>
          <a:xfrm>
            <a:off x="1051560" y="2889504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you're unsure what a point meant, ask for an example — it's one of the fastest ways to actually understand something.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94360" y="3611880"/>
            <a:ext cx="219456" cy="219456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1" name="Text 9"/>
          <p:cNvSpPr/>
          <p:nvPr/>
        </p:nvSpPr>
        <p:spPr>
          <a:xfrm>
            <a:off x="1051560" y="3511296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Respectfully build on or challenge an idea rather than just restating your own; 'What did you mean by...?' keeps the conversation useful.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94360" y="4233672"/>
            <a:ext cx="219456" cy="219456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3" name="Text 11"/>
          <p:cNvSpPr/>
          <p:nvPr/>
        </p:nvSpPr>
        <p:spPr>
          <a:xfrm>
            <a:off x="1051560" y="413308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group roles: someone naturally leads, someone keeps time, someone summarises — try each role at different times.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Discussion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Skills Masterclass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· GROUP PROJECTS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Making Group Work... 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75720" y="-502920"/>
            <a:ext cx="1463040" cy="1463040"/>
          </a:xfrm>
          <a:prstGeom prst="ellipse">
            <a:avLst/>
          </a:prstGeom>
          <a:solidFill>
            <a:srgbClr val="E4EFE8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49240" cy="4434840"/>
          </a:xfrm>
          <a:prstGeom prst="roundRect">
            <a:avLst>
              <a:gd name="adj" fmla="val 2062"/>
            </a:avLst>
          </a:prstGeom>
          <a:solidFill>
            <a:srgbClr val="F4F7F5"/>
          </a:solidFill>
          <a:ln w="15875">
            <a:solidFill>
              <a:srgbClr val="1B4B43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349240" cy="548640"/>
          </a:xfrm>
          <a:prstGeom prst="roundRect">
            <a:avLst>
              <a:gd name="adj" fmla="val 16667"/>
            </a:avLst>
          </a:prstGeom>
          <a:solidFill>
            <a:srgbClr val="1B4B43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5349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Good Group Work Looks Like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are agreed early (researcher, writer, presenter, checker)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2971800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knows the deadline and their part of it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3474720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Disagreements are discussed, not avoided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22960" y="3977640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is checked in on partway through, not just at the end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355080" y="1691640"/>
            <a:ext cx="5349240" cy="4434840"/>
          </a:xfrm>
          <a:prstGeom prst="roundRect">
            <a:avLst>
              <a:gd name="adj" fmla="val 2062"/>
            </a:avLst>
          </a:prstGeom>
          <a:solidFill>
            <a:srgbClr val="F4F7F5"/>
          </a:solidFill>
          <a:ln w="15875">
            <a:solidFill>
              <a:srgbClr val="E8871E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3" name="Shape 11"/>
          <p:cNvSpPr/>
          <p:nvPr/>
        </p:nvSpPr>
        <p:spPr>
          <a:xfrm>
            <a:off x="6355080" y="1691640"/>
            <a:ext cx="5349240" cy="548640"/>
          </a:xfrm>
          <a:prstGeom prst="roundRect">
            <a:avLst>
              <a:gd name="adj" fmla="val 16667"/>
            </a:avLst>
          </a:prstGeom>
          <a:solidFill>
            <a:srgbClr val="E8871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4" name="Text 12"/>
          <p:cNvSpPr/>
          <p:nvPr/>
        </p:nvSpPr>
        <p:spPr>
          <a:xfrm>
            <a:off x="6355080" y="1691640"/>
            <a:ext cx="5349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Group-Work Traps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629400" y="2468880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person does all the work while others coast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629400" y="2971800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agrees who's doing what, so tasks overlap or get missed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629400" y="3474720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is left until it's too late to change anything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629400" y="3977640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dominant voice crowds out quieter members' ideas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Skills Masterclass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· GROUP PROJECTS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Handling Different Personalities in a Group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75720" y="-502920"/>
            <a:ext cx="1463040" cy="1463040"/>
          </a:xfrm>
          <a:prstGeom prst="ellipse">
            <a:avLst/>
          </a:prstGeom>
          <a:solidFill>
            <a:srgbClr val="E4EFE8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group has a mix of personalities — recognising the type helps you respond calmly instead of getting frustrated.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2368296"/>
            <a:ext cx="219456" cy="219456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7" name="Text 5"/>
          <p:cNvSpPr/>
          <p:nvPr/>
        </p:nvSpPr>
        <p:spPr>
          <a:xfrm>
            <a:off x="1051560" y="226771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dominant talker: politely redirect — 'Thanks, let's hear what others think too.'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94360" y="2880360"/>
            <a:ext cx="219456" cy="219456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9" name="Text 7"/>
          <p:cNvSpPr/>
          <p:nvPr/>
        </p:nvSpPr>
        <p:spPr>
          <a:xfrm>
            <a:off x="1051560" y="2779776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quiet member: ask them a direct, specific question so there's an easy way in.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94360" y="3392424"/>
            <a:ext cx="219456" cy="219456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1" name="Text 9"/>
          <p:cNvSpPr/>
          <p:nvPr/>
        </p:nvSpPr>
        <p:spPr>
          <a:xfrm>
            <a:off x="1051560" y="32918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off-topic wanderer: acknowledge the point, then steer back — 'Interesting — let's park that and get back to the task.'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94360" y="4014216"/>
            <a:ext cx="219456" cy="219456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3" name="Text 11"/>
          <p:cNvSpPr/>
          <p:nvPr/>
        </p:nvSpPr>
        <p:spPr>
          <a:xfrm>
            <a:off x="1051560" y="391363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Whoever is chairing the group can set this tone early, so it doesn't need to feel confrontational later.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Roles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Skills Masterclass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 · TAKING NOTES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Vocabulary: Note-Taking Methods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75720" y="-502920"/>
            <a:ext cx="1463040" cy="1463040"/>
          </a:xfrm>
          <a:prstGeom prst="ellipse">
            <a:avLst/>
          </a:prstGeom>
          <a:solidFill>
            <a:srgbClr val="E4EFE8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49240" cy="4434840"/>
          </a:xfrm>
          <a:prstGeom prst="roundRect">
            <a:avLst>
              <a:gd name="adj" fmla="val 2062"/>
            </a:avLst>
          </a:prstGeom>
          <a:solidFill>
            <a:srgbClr val="F4F7F5"/>
          </a:solidFill>
          <a:ln w="12700">
            <a:solidFill>
              <a:srgbClr val="1B4B43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349240" cy="685800"/>
          </a:xfrm>
          <a:prstGeom prst="rect">
            <a:avLst/>
          </a:prstGeom>
          <a:solidFill>
            <a:srgbClr val="1B4B43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5349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Cornell Notes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51460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77240" y="2807208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page divided into a narrow cue column, a wide notes column, and a summary strip at the bottom.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3675888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77240" y="3968496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2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class you write in the notes column; after class you add questions in the cue column and a 2-sentence summary at the bottom.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4791456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The summary step is the one people skip — it's also the one that actually builds memory.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63640" y="1691640"/>
            <a:ext cx="5349240" cy="4434840"/>
          </a:xfrm>
          <a:prstGeom prst="roundRect">
            <a:avLst>
              <a:gd name="adj" fmla="val 2062"/>
            </a:avLst>
          </a:prstGeom>
          <a:solidFill>
            <a:srgbClr val="F4F7F5"/>
          </a:solidFill>
          <a:ln w="12700">
            <a:solidFill>
              <a:srgbClr val="1B4B43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4" name="Shape 12"/>
          <p:cNvSpPr/>
          <p:nvPr/>
        </p:nvSpPr>
        <p:spPr>
          <a:xfrm>
            <a:off x="6263640" y="1691640"/>
            <a:ext cx="5349240" cy="685800"/>
          </a:xfrm>
          <a:prstGeom prst="rect">
            <a:avLst/>
          </a:prstGeom>
          <a:solidFill>
            <a:srgbClr val="1B4B43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5" name="Text 13"/>
          <p:cNvSpPr/>
          <p:nvPr/>
        </p:nvSpPr>
        <p:spPr>
          <a:xfrm>
            <a:off x="6263640" y="1691640"/>
            <a:ext cx="5349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Mind Mapping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92240" y="251460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92240" y="2807208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visual note style that branches ideas out from a central topic, showing how concepts connect.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92240" y="3675888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92240" y="3968496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2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map for 'The Water Cycle' branches into evaporation, condensation, precipitation and collection, each with its own sub-branches.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92240" y="4791456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Works best for topics with clear relationships between parts — less useful for step-by-step processes.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Skills Masterclass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 · TAKING NOTES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Organise Your Notes: Before, During, After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75720" y="-502920"/>
            <a:ext cx="1463040" cy="1463040"/>
          </a:xfrm>
          <a:prstGeom prst="ellipse">
            <a:avLst/>
          </a:prstGeom>
          <a:solidFill>
            <a:srgbClr val="E4EFE8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526030" cy="3383280"/>
          </a:xfrm>
          <a:prstGeom prst="roundRect">
            <a:avLst>
              <a:gd name="adj" fmla="val 3620"/>
            </a:avLst>
          </a:prstGeom>
          <a:solidFill>
            <a:srgbClr val="E4EFE8"/>
          </a:solidFill>
          <a:ln w="12700">
            <a:solidFill>
              <a:srgbClr val="1B4B43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6" name="Shape 4"/>
          <p:cNvSpPr/>
          <p:nvPr/>
        </p:nvSpPr>
        <p:spPr>
          <a:xfrm>
            <a:off x="1491615" y="1783080"/>
            <a:ext cx="640080" cy="640080"/>
          </a:xfrm>
          <a:prstGeom prst="ellipse">
            <a:avLst/>
          </a:prstGeom>
          <a:solidFill>
            <a:srgbClr val="E8871E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7" name="Text 5"/>
          <p:cNvSpPr/>
          <p:nvPr/>
        </p:nvSpPr>
        <p:spPr>
          <a:xfrm>
            <a:off x="1491615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2560320"/>
            <a:ext cx="216027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2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216027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Skim the topic; leave space to add detail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74670" y="352044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FB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394710" y="2103120"/>
            <a:ext cx="2526030" cy="3383280"/>
          </a:xfrm>
          <a:prstGeom prst="roundRect">
            <a:avLst>
              <a:gd name="adj" fmla="val 3620"/>
            </a:avLst>
          </a:prstGeom>
          <a:solidFill>
            <a:srgbClr val="F4F7F5"/>
          </a:solidFill>
          <a:ln w="12700">
            <a:solidFill>
              <a:srgbClr val="1B4B43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2" name="Shape 10"/>
          <p:cNvSpPr/>
          <p:nvPr/>
        </p:nvSpPr>
        <p:spPr>
          <a:xfrm>
            <a:off x="4337685" y="1783080"/>
            <a:ext cx="640080" cy="640080"/>
          </a:xfrm>
          <a:prstGeom prst="ellipse">
            <a:avLst/>
          </a:prstGeom>
          <a:solidFill>
            <a:srgbClr val="E8871E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3" name="Text 11"/>
          <p:cNvSpPr/>
          <p:nvPr/>
        </p:nvSpPr>
        <p:spPr>
          <a:xfrm>
            <a:off x="4337685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577590" y="2560320"/>
            <a:ext cx="216027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2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577590" y="3291840"/>
            <a:ext cx="216027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key points in your own words, not full sentences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20740" y="352044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FB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40780" y="2103120"/>
            <a:ext cx="2526030" cy="3383280"/>
          </a:xfrm>
          <a:prstGeom prst="roundRect">
            <a:avLst>
              <a:gd name="adj" fmla="val 3620"/>
            </a:avLst>
          </a:prstGeom>
          <a:solidFill>
            <a:srgbClr val="E4EFE8"/>
          </a:solidFill>
          <a:ln w="12700">
            <a:solidFill>
              <a:srgbClr val="1B4B43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8" name="Shape 16"/>
          <p:cNvSpPr/>
          <p:nvPr/>
        </p:nvSpPr>
        <p:spPr>
          <a:xfrm>
            <a:off x="7183755" y="1783080"/>
            <a:ext cx="640080" cy="640080"/>
          </a:xfrm>
          <a:prstGeom prst="ellipse">
            <a:avLst/>
          </a:prstGeom>
          <a:solidFill>
            <a:srgbClr val="E8871E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9" name="Text 17"/>
          <p:cNvSpPr/>
          <p:nvPr/>
        </p:nvSpPr>
        <p:spPr>
          <a:xfrm>
            <a:off x="7183755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423660" y="2560320"/>
            <a:ext cx="216027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2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after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23660" y="3291840"/>
            <a:ext cx="216027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gaps and clarify anything rushed, while it's fresh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766810" y="352044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FB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9086850" y="2103120"/>
            <a:ext cx="2526030" cy="3383280"/>
          </a:xfrm>
          <a:prstGeom prst="roundRect">
            <a:avLst>
              <a:gd name="adj" fmla="val 3620"/>
            </a:avLst>
          </a:prstGeom>
          <a:solidFill>
            <a:srgbClr val="F4F7F5"/>
          </a:solidFill>
          <a:ln w="12700">
            <a:solidFill>
              <a:srgbClr val="1B4B43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4" name="Shape 22"/>
          <p:cNvSpPr/>
          <p:nvPr/>
        </p:nvSpPr>
        <p:spPr>
          <a:xfrm>
            <a:off x="10029825" y="1783080"/>
            <a:ext cx="640080" cy="640080"/>
          </a:xfrm>
          <a:prstGeom prst="ellipse">
            <a:avLst/>
          </a:prstGeom>
          <a:solidFill>
            <a:srgbClr val="E8871E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5" name="Text 23"/>
          <p:cNvSpPr/>
          <p:nvPr/>
        </p:nvSpPr>
        <p:spPr>
          <a:xfrm>
            <a:off x="10029825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269730" y="2560320"/>
            <a:ext cx="216027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2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9269730" y="3291840"/>
            <a:ext cx="216027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and summarise — link it to earlier topics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Skills Masterclass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 · MAKING USE OF FEEDBACK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Decode Your Feedback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75720" y="-502920"/>
            <a:ext cx="1463040" cy="1463040"/>
          </a:xfrm>
          <a:prstGeom prst="ellipse">
            <a:avLst/>
          </a:prstGeom>
          <a:solidFill>
            <a:srgbClr val="E4EFE8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1B4B43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25880" y="1709928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"Needs more evidence"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325880" y="2048256"/>
            <a:ext cx="10241280" cy="1203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point is reasonable, but you haven't shown facts or examples that prove it — go back to your sources.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30708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7FB299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0" name="Text 8"/>
          <p:cNvSpPr/>
          <p:nvPr/>
        </p:nvSpPr>
        <p:spPr>
          <a:xfrm>
            <a:off x="548640" y="33070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25880" y="3279648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"Unclear structure"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325880" y="3617976"/>
            <a:ext cx="10241280" cy="1203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reader got lost following your argument — check that each paragraph has one clear point, in a logical order.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87680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1B4B43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4" name="Text 12"/>
          <p:cNvSpPr/>
          <p:nvPr/>
        </p:nvSpPr>
        <p:spPr>
          <a:xfrm>
            <a:off x="548640" y="48768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25880" y="4849368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"Good start, go further"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1325880" y="5187696"/>
            <a:ext cx="10241280" cy="1203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on the right track but stopped at the surface — ask 'why' or 'so what' one more time.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Skills Masterclass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 · MAKING USE OF FEEDBACK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Feedback into Improvement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75720" y="-502920"/>
            <a:ext cx="1463040" cy="1463040"/>
          </a:xfrm>
          <a:prstGeom prst="ellipse">
            <a:avLst/>
          </a:prstGeom>
          <a:solidFill>
            <a:srgbClr val="E4EFE8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only helps if you actually use it on the next piece of work — not just read it once and move 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2368296"/>
            <a:ext cx="219456" cy="219456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7" name="Text 5"/>
          <p:cNvSpPr/>
          <p:nvPr/>
        </p:nvSpPr>
        <p:spPr>
          <a:xfrm>
            <a:off x="1051560" y="226771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feedback twice: once for the overall message, once to note specific, actionable points.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94360" y="2880360"/>
            <a:ext cx="219456" cy="219456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9" name="Text 7"/>
          <p:cNvSpPr/>
          <p:nvPr/>
        </p:nvSpPr>
        <p:spPr>
          <a:xfrm>
            <a:off x="1051560" y="2779776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running list in your learning diary of comments you get more than once — that's your priority list for growth.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94360" y="3502152"/>
            <a:ext cx="219456" cy="219456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1" name="Text 9"/>
          <p:cNvSpPr/>
          <p:nvPr/>
        </p:nvSpPr>
        <p:spPr>
          <a:xfrm>
            <a:off x="1051560" y="34015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comment doesn't make sense, ask your teacher to clarify — that's a normal, expected question, not a weakness.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94360" y="4123944"/>
            <a:ext cx="219456" cy="219456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3" name="Text 11"/>
          <p:cNvSpPr/>
          <p:nvPr/>
        </p:nvSpPr>
        <p:spPr>
          <a:xfrm>
            <a:off x="1051560" y="4023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your next piece of work, check your list of past feedback before you start writing, not after you finish.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Feedback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Skills Masterclass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Check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75720" y="-502920"/>
            <a:ext cx="1463040" cy="1463040"/>
          </a:xfrm>
          <a:prstGeom prst="ellipse">
            <a:avLst/>
          </a:prstGeom>
          <a:solidFill>
            <a:srgbClr val="E4EFE8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4F7F5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6" name="Text 4"/>
          <p:cNvSpPr/>
          <p:nvPr/>
        </p:nvSpPr>
        <p:spPr>
          <a:xfrm>
            <a:off x="822960" y="16916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Diego's essay came back with the comment 'unclear structure' for the second time this term.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the most useful next step for Diego?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48640" y="365760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7FB299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9" name="Shape 7"/>
          <p:cNvSpPr/>
          <p:nvPr/>
        </p:nvSpPr>
        <p:spPr>
          <a:xfrm>
            <a:off x="713232" y="3776472"/>
            <a:ext cx="329184" cy="329184"/>
          </a:xfrm>
          <a:prstGeom prst="ellipse">
            <a:avLst/>
          </a:prstGeom>
          <a:solidFill>
            <a:srgbClr val="1B4B43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0" name="Text 8"/>
          <p:cNvSpPr/>
          <p:nvPr/>
        </p:nvSpPr>
        <p:spPr>
          <a:xfrm>
            <a:off x="713232" y="37764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34440" y="3657600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 it — he got a similar grade last time anyway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34340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7FB299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3" name="Shape 11"/>
          <p:cNvSpPr/>
          <p:nvPr/>
        </p:nvSpPr>
        <p:spPr>
          <a:xfrm>
            <a:off x="713232" y="4462272"/>
            <a:ext cx="329184" cy="329184"/>
          </a:xfrm>
          <a:prstGeom prst="ellipse">
            <a:avLst/>
          </a:prstGeom>
          <a:solidFill>
            <a:srgbClr val="1B4B43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4" name="Text 12"/>
          <p:cNvSpPr/>
          <p:nvPr/>
        </p:nvSpPr>
        <p:spPr>
          <a:xfrm>
            <a:off x="713232" y="44622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34440" y="4343400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whole essay from scratch without changing his planning process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02920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7FB299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7" name="Shape 15"/>
          <p:cNvSpPr/>
          <p:nvPr/>
        </p:nvSpPr>
        <p:spPr>
          <a:xfrm>
            <a:off x="713232" y="5148072"/>
            <a:ext cx="329184" cy="329184"/>
          </a:xfrm>
          <a:prstGeom prst="ellipse">
            <a:avLst/>
          </a:prstGeom>
          <a:solidFill>
            <a:srgbClr val="1B4B43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8" name="Text 16"/>
          <p:cNvSpPr/>
          <p:nvPr/>
        </p:nvSpPr>
        <p:spPr>
          <a:xfrm>
            <a:off x="713232" y="51480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34440" y="5029200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his next essay, plan his paragraph order first and check each paragraph makes one clear point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571500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7FB299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1" name="Shape 19"/>
          <p:cNvSpPr/>
          <p:nvPr/>
        </p:nvSpPr>
        <p:spPr>
          <a:xfrm>
            <a:off x="713232" y="5833872"/>
            <a:ext cx="329184" cy="329184"/>
          </a:xfrm>
          <a:prstGeom prst="ellipse">
            <a:avLst/>
          </a:prstGeom>
          <a:solidFill>
            <a:srgbClr val="1B4B43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22" name="Text 20"/>
          <p:cNvSpPr/>
          <p:nvPr/>
        </p:nvSpPr>
        <p:spPr>
          <a:xfrm>
            <a:off x="713232" y="58338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34440" y="5715000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friend to just fix the wording for him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through to the next slide to check the answer →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Skills Masterclass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Check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75720" y="-502920"/>
            <a:ext cx="1463040" cy="1463040"/>
          </a:xfrm>
          <a:prstGeom prst="ellipse">
            <a:avLst/>
          </a:prstGeom>
          <a:solidFill>
            <a:srgbClr val="E4EFE8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4F7F5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6" name="Text 4"/>
          <p:cNvSpPr/>
          <p:nvPr/>
        </p:nvSpPr>
        <p:spPr>
          <a:xfrm>
            <a:off x="822960" y="16916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Diego's essay came back with the comment 'unclear structure' for the second time this term.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the most useful next step for Diego?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48640" y="365760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7FB299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9" name="Shape 7"/>
          <p:cNvSpPr/>
          <p:nvPr/>
        </p:nvSpPr>
        <p:spPr>
          <a:xfrm>
            <a:off x="713232" y="3776472"/>
            <a:ext cx="329184" cy="329184"/>
          </a:xfrm>
          <a:prstGeom prst="ellipse">
            <a:avLst/>
          </a:prstGeom>
          <a:solidFill>
            <a:srgbClr val="1B4B43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0" name="Text 8"/>
          <p:cNvSpPr/>
          <p:nvPr/>
        </p:nvSpPr>
        <p:spPr>
          <a:xfrm>
            <a:off x="713232" y="37764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34440" y="3657600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 it — he got a similar grade last time anyway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34340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7FB299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3" name="Shape 11"/>
          <p:cNvSpPr/>
          <p:nvPr/>
        </p:nvSpPr>
        <p:spPr>
          <a:xfrm>
            <a:off x="713232" y="4462272"/>
            <a:ext cx="329184" cy="329184"/>
          </a:xfrm>
          <a:prstGeom prst="ellipse">
            <a:avLst/>
          </a:prstGeom>
          <a:solidFill>
            <a:srgbClr val="1B4B43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4" name="Text 12"/>
          <p:cNvSpPr/>
          <p:nvPr/>
        </p:nvSpPr>
        <p:spPr>
          <a:xfrm>
            <a:off x="713232" y="44622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34440" y="4343400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whole essay from scratch without changing his planning process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02920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CE8D2"/>
          </a:solidFill>
          <a:ln w="25400">
            <a:solidFill>
              <a:srgbClr val="E8871E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7" name="Shape 15"/>
          <p:cNvSpPr/>
          <p:nvPr/>
        </p:nvSpPr>
        <p:spPr>
          <a:xfrm>
            <a:off x="713232" y="5148072"/>
            <a:ext cx="329184" cy="329184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8" name="Text 16"/>
          <p:cNvSpPr/>
          <p:nvPr/>
        </p:nvSpPr>
        <p:spPr>
          <a:xfrm>
            <a:off x="713232" y="51480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34440" y="5029200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his next essay, plan his paragraph order first and check each paragraph makes one clear point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571500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7FB299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1" name="Shape 19"/>
          <p:cNvSpPr/>
          <p:nvPr/>
        </p:nvSpPr>
        <p:spPr>
          <a:xfrm>
            <a:off x="713232" y="5833872"/>
            <a:ext cx="329184" cy="329184"/>
          </a:xfrm>
          <a:prstGeom prst="ellipse">
            <a:avLst/>
          </a:prstGeom>
          <a:solidFill>
            <a:srgbClr val="1B4B43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22" name="Text 20"/>
          <p:cNvSpPr/>
          <p:nvPr/>
        </p:nvSpPr>
        <p:spPr>
          <a:xfrm>
            <a:off x="713232" y="58338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34440" y="5715000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friend to just fix the wording for him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6446520"/>
            <a:ext cx="11064240" cy="0"/>
          </a:xfrm>
          <a:prstGeom prst="roundRect">
            <a:avLst>
              <a:gd name="adj" fmla="val Infinity"/>
            </a:avLst>
          </a:prstGeom>
          <a:solidFill>
            <a:srgbClr val="E4EFE8"/>
          </a:solidFill>
          <a:ln/>
        </p:spPr>
        <p:txBody>
          <a:bodyPr/>
          <a:lstStyle/>
          <a:p>
            <a:endParaRPr lang="en-NZ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B4B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486400" cy="5486400"/>
          </a:xfrm>
          <a:prstGeom prst="ellipse">
            <a:avLst/>
          </a:prstGeom>
          <a:solidFill>
            <a:srgbClr val="12332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4" name="Text 2"/>
          <p:cNvSpPr/>
          <p:nvPr/>
        </p:nvSpPr>
        <p:spPr>
          <a:xfrm>
            <a:off x="914400" y="1965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42316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Gathering Your Evidence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60120" y="39776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450" dirty="0">
                <a:solidFill>
                  <a:srgbClr val="DC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research method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60120" y="4361688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450" dirty="0">
                <a:solidFill>
                  <a:srgbClr val="DC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strategically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60120" y="4745736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450" dirty="0">
                <a:solidFill>
                  <a:srgbClr val="DC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&amp; summarise sources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60120" y="5129784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450" dirty="0">
                <a:solidFill>
                  <a:srgbClr val="DC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online information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960120" y="551383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450" dirty="0">
                <a:solidFill>
                  <a:srgbClr val="DC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with numbers and data</a:t>
            </a:r>
            <a:endParaRPr lang="en-US" sz="14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 · RESEARCH METHODS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Vocabulary: Starting Your Research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75720" y="-502920"/>
            <a:ext cx="1463040" cy="1463040"/>
          </a:xfrm>
          <a:prstGeom prst="ellipse">
            <a:avLst/>
          </a:prstGeom>
          <a:solidFill>
            <a:srgbClr val="E4EFE8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49240" cy="4434840"/>
          </a:xfrm>
          <a:prstGeom prst="roundRect">
            <a:avLst>
              <a:gd name="adj" fmla="val 2062"/>
            </a:avLst>
          </a:prstGeom>
          <a:solidFill>
            <a:srgbClr val="F4F7F5"/>
          </a:solidFill>
          <a:ln w="12700">
            <a:solidFill>
              <a:srgbClr val="1B4B43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349240" cy="685800"/>
          </a:xfrm>
          <a:prstGeom prst="rect">
            <a:avLst/>
          </a:prstGeom>
          <a:solidFill>
            <a:srgbClr val="1B4B43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5349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Hypothesis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51460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/haɪˈpɒθəsɪs/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77240" y="288036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7240" y="3172968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clear, testable statement about what you expect to find — your best guess, before you gather evidence.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7240" y="4041648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77240" y="4334256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2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"Students who use a revision timetable score higher on tests than students who don't."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5157216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 hypothesis must be testable — 'social media is bad' is too vague to test directly.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1691640"/>
            <a:ext cx="5349240" cy="4434840"/>
          </a:xfrm>
          <a:prstGeom prst="roundRect">
            <a:avLst>
              <a:gd name="adj" fmla="val 2062"/>
            </a:avLst>
          </a:prstGeom>
          <a:solidFill>
            <a:srgbClr val="F4F7F5"/>
          </a:solidFill>
          <a:ln w="12700">
            <a:solidFill>
              <a:srgbClr val="1B4B43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5" name="Shape 13"/>
          <p:cNvSpPr/>
          <p:nvPr/>
        </p:nvSpPr>
        <p:spPr>
          <a:xfrm>
            <a:off x="6263640" y="1691640"/>
            <a:ext cx="5349240" cy="685800"/>
          </a:xfrm>
          <a:prstGeom prst="rect">
            <a:avLst/>
          </a:prstGeom>
          <a:solidFill>
            <a:srgbClr val="1B4B43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6" name="Text 14"/>
          <p:cNvSpPr/>
          <p:nvPr/>
        </p:nvSpPr>
        <p:spPr>
          <a:xfrm>
            <a:off x="6263640" y="1691640"/>
            <a:ext cx="5349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Qualitative vs Quantitative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92240" y="251460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/ˈkwɒlɪˌteɪtɪv/ vs /ˈkwɒntɪˌteɪtɪv/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288036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92240" y="3172968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research explores opinions, experiences and reasons (interviews, open questions). Quantitative research measures things with numbers (surveys with rating scales, test scores).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92240" y="4041648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92240" y="4334256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2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Asking 'why do you find maths hard?' is qualitative; asking students to rate difficulty 1-5 and averaging the scores is quantitative.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92240" y="5157216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Many strong projects use both — numbers to show a pattern, and words to explain why it happens.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Skills Masterclass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 · RESEARCH METHODS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Your Research Method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75720" y="-502920"/>
            <a:ext cx="1463040" cy="1463040"/>
          </a:xfrm>
          <a:prstGeom prst="ellipse">
            <a:avLst/>
          </a:prstGeom>
          <a:solidFill>
            <a:srgbClr val="E4EFE8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49240" cy="4434840"/>
          </a:xfrm>
          <a:prstGeom prst="roundRect">
            <a:avLst>
              <a:gd name="adj" fmla="val 2062"/>
            </a:avLst>
          </a:prstGeom>
          <a:solidFill>
            <a:srgbClr val="F4F7F5"/>
          </a:solidFill>
          <a:ln w="15875">
            <a:solidFill>
              <a:srgbClr val="1B4B43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349240" cy="548640"/>
          </a:xfrm>
          <a:prstGeom prst="roundRect">
            <a:avLst>
              <a:gd name="adj" fmla="val 16667"/>
            </a:avLst>
          </a:prstGeom>
          <a:solidFill>
            <a:srgbClr val="1B4B43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5349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Quantitative When...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want to measure something and compare groups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2971800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results you can put on a graph or chart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3474720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(or can get) a reasonably large sample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355080" y="1691640"/>
            <a:ext cx="5349240" cy="4434840"/>
          </a:xfrm>
          <a:prstGeom prst="roundRect">
            <a:avLst>
              <a:gd name="adj" fmla="val 2062"/>
            </a:avLst>
          </a:prstGeom>
          <a:solidFill>
            <a:srgbClr val="F4F7F5"/>
          </a:solidFill>
          <a:ln w="15875">
            <a:solidFill>
              <a:srgbClr val="E8871E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2" name="Shape 10"/>
          <p:cNvSpPr/>
          <p:nvPr/>
        </p:nvSpPr>
        <p:spPr>
          <a:xfrm>
            <a:off x="6355080" y="1691640"/>
            <a:ext cx="5349240" cy="548640"/>
          </a:xfrm>
          <a:prstGeom prst="roundRect">
            <a:avLst>
              <a:gd name="adj" fmla="val 16667"/>
            </a:avLst>
          </a:prstGeom>
          <a:solidFill>
            <a:srgbClr val="E8871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3" name="Text 11"/>
          <p:cNvSpPr/>
          <p:nvPr/>
        </p:nvSpPr>
        <p:spPr>
          <a:xfrm>
            <a:off x="6355080" y="1691640"/>
            <a:ext cx="5349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Qualitative When...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629400" y="2468880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want to understand reasons, feelings or experiences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629400" y="2971800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topic is complex and hard to reduce to a number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629400" y="3474720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exploring a new question, not confirming a known pattern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Skills Masterclass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10 · FINDING ANSWERS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Strategically: Skim, Scan, Select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75720" y="-502920"/>
            <a:ext cx="1463040" cy="1463040"/>
          </a:xfrm>
          <a:prstGeom prst="ellipse">
            <a:avLst/>
          </a:prstGeom>
          <a:solidFill>
            <a:srgbClr val="E4EFE8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1B4B43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25880" y="1709928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Skim first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325880" y="2048256"/>
            <a:ext cx="10241280" cy="1203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title, headings, first and last paragraph to get the gist before committing to the whole text.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30708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7FB299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0" name="Text 8"/>
          <p:cNvSpPr/>
          <p:nvPr/>
        </p:nvSpPr>
        <p:spPr>
          <a:xfrm>
            <a:off x="548640" y="33070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25880" y="3279648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for keywords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325880" y="3617976"/>
            <a:ext cx="10241280" cy="1203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you know your research question, hunt for the specific words and terms connected to it rather than reading start to finish.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87680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1B4B43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4" name="Text 12"/>
          <p:cNvSpPr/>
          <p:nvPr/>
        </p:nvSpPr>
        <p:spPr>
          <a:xfrm>
            <a:off x="548640" y="48768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25880" y="4849368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what's relevant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1325880" y="5187696"/>
            <a:ext cx="10241280" cy="1203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source needs to be read in full — decide early whether a source is core reading or just background, and treat it accordingly.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Skills Masterclass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10 · FINDING ANSWERS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Balance Your Sources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75720" y="-502920"/>
            <a:ext cx="1463040" cy="1463040"/>
          </a:xfrm>
          <a:prstGeom prst="ellipse">
            <a:avLst/>
          </a:prstGeom>
          <a:solidFill>
            <a:srgbClr val="E4EFE8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Relying on a single source — even a good one — gives you a narrow, one-sided picture.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2368296"/>
            <a:ext cx="219456" cy="219456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7" name="Text 5"/>
          <p:cNvSpPr/>
          <p:nvPr/>
        </p:nvSpPr>
        <p:spPr>
          <a:xfrm>
            <a:off x="1051560" y="226771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sources written from different angles or perspectives on your topic, especially for anything debated or political.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94360" y="2990088"/>
            <a:ext cx="219456" cy="219456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9" name="Text 7"/>
          <p:cNvSpPr/>
          <p:nvPr/>
        </p:nvSpPr>
        <p:spPr>
          <a:xfrm>
            <a:off x="1051560" y="2889504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publication dates — a ten-year-old statistic may no longer be accurate.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94360" y="3502152"/>
            <a:ext cx="219456" cy="219456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1" name="Text 9"/>
          <p:cNvSpPr/>
          <p:nvPr/>
        </p:nvSpPr>
        <p:spPr>
          <a:xfrm>
            <a:off x="1051560" y="34015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source types where possible: textbooks, reputable news, academic articles, official statistics.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94360" y="4014216"/>
            <a:ext cx="219456" cy="219456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3" name="Text 11"/>
          <p:cNvSpPr/>
          <p:nvPr/>
        </p:nvSpPr>
        <p:spPr>
          <a:xfrm>
            <a:off x="1051560" y="391363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every source you've found agrees completely, that's often a sign you need to look harder, not that the debate is settled.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Sources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Skills Masterclass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11 · EVALUATING SOURCES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a Reliable Source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75720" y="-502920"/>
            <a:ext cx="1463040" cy="1463040"/>
          </a:xfrm>
          <a:prstGeom prst="ellipse">
            <a:avLst/>
          </a:prstGeom>
          <a:solidFill>
            <a:srgbClr val="E4EFE8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526030" cy="3383280"/>
          </a:xfrm>
          <a:prstGeom prst="roundRect">
            <a:avLst>
              <a:gd name="adj" fmla="val 3620"/>
            </a:avLst>
          </a:prstGeom>
          <a:solidFill>
            <a:srgbClr val="E4EFE8"/>
          </a:solidFill>
          <a:ln w="12700">
            <a:solidFill>
              <a:srgbClr val="1B4B43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6" name="Shape 4"/>
          <p:cNvSpPr/>
          <p:nvPr/>
        </p:nvSpPr>
        <p:spPr>
          <a:xfrm>
            <a:off x="1491615" y="1783080"/>
            <a:ext cx="640080" cy="640080"/>
          </a:xfrm>
          <a:prstGeom prst="ellipse">
            <a:avLst/>
          </a:prstGeom>
          <a:solidFill>
            <a:srgbClr val="E8871E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7" name="Text 5"/>
          <p:cNvSpPr/>
          <p:nvPr/>
        </p:nvSpPr>
        <p:spPr>
          <a:xfrm>
            <a:off x="1491615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2560320"/>
            <a:ext cx="216027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2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wrote it?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216027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expert, journalist, or anonymous poster?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74670" y="352044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FB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394710" y="2103120"/>
            <a:ext cx="2526030" cy="3383280"/>
          </a:xfrm>
          <a:prstGeom prst="roundRect">
            <a:avLst>
              <a:gd name="adj" fmla="val 3620"/>
            </a:avLst>
          </a:prstGeom>
          <a:solidFill>
            <a:srgbClr val="F4F7F5"/>
          </a:solidFill>
          <a:ln w="12700">
            <a:solidFill>
              <a:srgbClr val="1B4B43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2" name="Shape 10"/>
          <p:cNvSpPr/>
          <p:nvPr/>
        </p:nvSpPr>
        <p:spPr>
          <a:xfrm>
            <a:off x="4337685" y="1783080"/>
            <a:ext cx="640080" cy="640080"/>
          </a:xfrm>
          <a:prstGeom prst="ellipse">
            <a:avLst/>
          </a:prstGeom>
          <a:solidFill>
            <a:srgbClr val="E8871E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3" name="Text 11"/>
          <p:cNvSpPr/>
          <p:nvPr/>
        </p:nvSpPr>
        <p:spPr>
          <a:xfrm>
            <a:off x="4337685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577590" y="2560320"/>
            <a:ext cx="216027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2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evidence?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577590" y="3291840"/>
            <a:ext cx="216027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claims backed by data or citations?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20740" y="352044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FB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40780" y="2103120"/>
            <a:ext cx="2526030" cy="3383280"/>
          </a:xfrm>
          <a:prstGeom prst="roundRect">
            <a:avLst>
              <a:gd name="adj" fmla="val 3620"/>
            </a:avLst>
          </a:prstGeom>
          <a:solidFill>
            <a:srgbClr val="E4EFE8"/>
          </a:solidFill>
          <a:ln w="12700">
            <a:solidFill>
              <a:srgbClr val="1B4B43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8" name="Shape 16"/>
          <p:cNvSpPr/>
          <p:nvPr/>
        </p:nvSpPr>
        <p:spPr>
          <a:xfrm>
            <a:off x="7183755" y="1783080"/>
            <a:ext cx="640080" cy="640080"/>
          </a:xfrm>
          <a:prstGeom prst="ellipse">
            <a:avLst/>
          </a:prstGeom>
          <a:solidFill>
            <a:srgbClr val="E8871E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9" name="Text 17"/>
          <p:cNvSpPr/>
          <p:nvPr/>
        </p:nvSpPr>
        <p:spPr>
          <a:xfrm>
            <a:off x="7183755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423660" y="2560320"/>
            <a:ext cx="216027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2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was it made?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23660" y="3291840"/>
            <a:ext cx="216027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current for your topic?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766810" y="352044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FB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9086850" y="2103120"/>
            <a:ext cx="2526030" cy="3383280"/>
          </a:xfrm>
          <a:prstGeom prst="roundRect">
            <a:avLst>
              <a:gd name="adj" fmla="val 3620"/>
            </a:avLst>
          </a:prstGeom>
          <a:solidFill>
            <a:srgbClr val="F4F7F5"/>
          </a:solidFill>
          <a:ln w="12700">
            <a:solidFill>
              <a:srgbClr val="1B4B43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4" name="Shape 22"/>
          <p:cNvSpPr/>
          <p:nvPr/>
        </p:nvSpPr>
        <p:spPr>
          <a:xfrm>
            <a:off x="10029825" y="1783080"/>
            <a:ext cx="640080" cy="640080"/>
          </a:xfrm>
          <a:prstGeom prst="ellipse">
            <a:avLst/>
          </a:prstGeom>
          <a:solidFill>
            <a:srgbClr val="E8871E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5" name="Text 23"/>
          <p:cNvSpPr/>
          <p:nvPr/>
        </p:nvSpPr>
        <p:spPr>
          <a:xfrm>
            <a:off x="10029825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269730" y="2560320"/>
            <a:ext cx="216027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2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was it written?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9269730" y="3291840"/>
            <a:ext cx="216027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inform, or to persuade/sell?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Skills Masterclass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11 · NOTE-TAKING FOR RESEARCH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Summarising: A Key Skill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75720" y="-502920"/>
            <a:ext cx="1463040" cy="1463040"/>
          </a:xfrm>
          <a:prstGeom prst="ellipse">
            <a:avLst/>
          </a:prstGeom>
          <a:solidFill>
            <a:srgbClr val="E4EFE8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Summarising in your own words is how you prove you actually understood a source — and it's what earns credit in your writing.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2368296"/>
            <a:ext cx="219456" cy="219456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7" name="Text 5"/>
          <p:cNvSpPr/>
          <p:nvPr/>
        </p:nvSpPr>
        <p:spPr>
          <a:xfrm>
            <a:off x="1051560" y="226771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passage, then close it and write what you remember in your own words before checking back.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94360" y="2880360"/>
            <a:ext cx="219456" cy="219456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9" name="Text 7"/>
          <p:cNvSpPr/>
          <p:nvPr/>
        </p:nvSpPr>
        <p:spPr>
          <a:xfrm>
            <a:off x="1051560" y="2779776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summary is much shorter than the original and captures the main point, not every detail.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94360" y="3392424"/>
            <a:ext cx="219456" cy="219456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1" name="Text 9"/>
          <p:cNvSpPr/>
          <p:nvPr/>
        </p:nvSpPr>
        <p:spPr>
          <a:xfrm>
            <a:off x="1051560" y="32918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note where a summarised idea came from, even if you're not quoting directly — this is still someone else's idea.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94360" y="4014216"/>
            <a:ext cx="219456" cy="219456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3" name="Text 11"/>
          <p:cNvSpPr/>
          <p:nvPr/>
        </p:nvSpPr>
        <p:spPr>
          <a:xfrm>
            <a:off x="1051560" y="391363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example: a 300-word article about renewable energy subsidies can usually be summarised in 2-3 sentences for your notes.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Skills Masterclass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12 · INTERNET RESEARCH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Evaluating Online Sources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75720" y="-502920"/>
            <a:ext cx="1463040" cy="1463040"/>
          </a:xfrm>
          <a:prstGeom prst="ellipse">
            <a:avLst/>
          </a:prstGeom>
          <a:solidFill>
            <a:srgbClr val="E4EFE8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1B4B43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25880" y="1709928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Myth: 'If it's online, it's unreliable'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325880" y="2048256"/>
            <a:ext cx="10241280" cy="1203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true — many online sources (government sites, established news organisations, academic databases) are just as reliable as print. Judge the source, not the medium.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30708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7FB299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0" name="Text 8"/>
          <p:cNvSpPr/>
          <p:nvPr/>
        </p:nvSpPr>
        <p:spPr>
          <a:xfrm>
            <a:off x="548640" y="33070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25880" y="3279648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Myth: 'Wikipedia can never be used'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325880" y="3617976"/>
            <a:ext cx="10241280" cy="1203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Wikipedia is a good starting point for background and for finding its own cited sources — but for a research project, follow those citations to the original source rather than quoting Wikipedia directly.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87680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1B4B43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4" name="Text 12"/>
          <p:cNvSpPr/>
          <p:nvPr/>
        </p:nvSpPr>
        <p:spPr>
          <a:xfrm>
            <a:off x="548640" y="48768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25880" y="4849368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 check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1325880" y="5187696"/>
            <a:ext cx="10241280" cy="1203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test is always the same: who wrote it, what evidence backs it, and when was it last updated.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Skills Masterclass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12 · INTERNET RESEARCH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Avoiding Plagiarism Online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75720" y="-502920"/>
            <a:ext cx="1463040" cy="1463040"/>
          </a:xfrm>
          <a:prstGeom prst="ellipse">
            <a:avLst/>
          </a:prstGeom>
          <a:solidFill>
            <a:srgbClr val="E4EFE8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internet makes copying easy — which is exactly why using it honestly matters.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2368296"/>
            <a:ext cx="219456" cy="219456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7" name="Text 5"/>
          <p:cNvSpPr/>
          <p:nvPr/>
        </p:nvSpPr>
        <p:spPr>
          <a:xfrm>
            <a:off x="1051560" y="226771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copy and paste text into your own work without quotation marks and a citation.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94360" y="2880360"/>
            <a:ext cx="219456" cy="219456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9" name="Text 7"/>
          <p:cNvSpPr/>
          <p:nvPr/>
        </p:nvSpPr>
        <p:spPr>
          <a:xfrm>
            <a:off x="1051560" y="2779776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Paraphrasing means rewriting the idea completely in your own words and sentence structure — not swapping a few words in the original sentence.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94360" y="3502152"/>
            <a:ext cx="219456" cy="219456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1" name="Text 9"/>
          <p:cNvSpPr/>
          <p:nvPr/>
        </p:nvSpPr>
        <p:spPr>
          <a:xfrm>
            <a:off x="1051560" y="34015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running list of every source as you go; reconstructing it later from memory is unreliable and time-consuming.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94360" y="4123944"/>
            <a:ext cx="219456" cy="219456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3" name="Text 11"/>
          <p:cNvSpPr/>
          <p:nvPr/>
        </p:nvSpPr>
        <p:spPr>
          <a:xfrm>
            <a:off x="1051560" y="4023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in doubt, cite it — over-crediting a source is a far smaller problem than under-crediting one.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Avoiding Plagiarism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Skills Masterclass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13 · NUMBERS AND FIGURES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Vocabulary: Making Sense of 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75720" y="-502920"/>
            <a:ext cx="1463040" cy="1463040"/>
          </a:xfrm>
          <a:prstGeom prst="ellipse">
            <a:avLst/>
          </a:prstGeom>
          <a:solidFill>
            <a:srgbClr val="E4EFE8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49240" cy="4434840"/>
          </a:xfrm>
          <a:prstGeom prst="roundRect">
            <a:avLst>
              <a:gd name="adj" fmla="val 2062"/>
            </a:avLst>
          </a:prstGeom>
          <a:solidFill>
            <a:srgbClr val="F4F7F5"/>
          </a:solidFill>
          <a:ln w="12700">
            <a:solidFill>
              <a:srgbClr val="1B4B43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349240" cy="685800"/>
          </a:xfrm>
          <a:prstGeom prst="rect">
            <a:avLst/>
          </a:prstGeom>
          <a:solidFill>
            <a:srgbClr val="1B4B43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5349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Mean, Median, Mode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51460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77240" y="2807208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= the average (add up, divide by how many). Median = the middle value when sorted. Mode = the most frequent value.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3675888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77240" y="3968496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2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scores 60, 65, 70, 70, 95 → mean = 72, median = 70, mode = 70.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4791456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One extreme value (like the 95) can drag the mean away from what's 'typical' — the median often gives a fairer picture.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63640" y="1691640"/>
            <a:ext cx="5349240" cy="4434840"/>
          </a:xfrm>
          <a:prstGeom prst="roundRect">
            <a:avLst>
              <a:gd name="adj" fmla="val 2062"/>
            </a:avLst>
          </a:prstGeom>
          <a:solidFill>
            <a:srgbClr val="F4F7F5"/>
          </a:solidFill>
          <a:ln w="12700">
            <a:solidFill>
              <a:srgbClr val="1B4B43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4" name="Shape 12"/>
          <p:cNvSpPr/>
          <p:nvPr/>
        </p:nvSpPr>
        <p:spPr>
          <a:xfrm>
            <a:off x="6263640" y="1691640"/>
            <a:ext cx="5349240" cy="685800"/>
          </a:xfrm>
          <a:prstGeom prst="rect">
            <a:avLst/>
          </a:prstGeom>
          <a:solidFill>
            <a:srgbClr val="1B4B43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5" name="Text 13"/>
          <p:cNvSpPr/>
          <p:nvPr/>
        </p:nvSpPr>
        <p:spPr>
          <a:xfrm>
            <a:off x="6263640" y="1691640"/>
            <a:ext cx="5349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Percentage Change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92240" y="251460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92240" y="2807208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a value has increased or decreased, shown as a proportion of the original value.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92240" y="3675888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92240" y="3968496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2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 average moving from 60% to 66% is a 10% relative increase, even though it's only 6 percentage points.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92240" y="4791456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"Percent" and "percentage point" are not interchangeable — mixing them up is one of the most common data mistakes.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Skills Masterclass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Check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75720" y="-502920"/>
            <a:ext cx="1463040" cy="1463040"/>
          </a:xfrm>
          <a:prstGeom prst="ellipse">
            <a:avLst/>
          </a:prstGeom>
          <a:solidFill>
            <a:srgbClr val="E4EFE8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4F7F5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6" name="Text 4"/>
          <p:cNvSpPr/>
          <p:nvPr/>
        </p:nvSpPr>
        <p:spPr>
          <a:xfrm>
            <a:off x="822960" y="16916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geography project, Priya finds one blog post that strongly supports her opinion on a debated policy.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should Priya do before using it as her main source?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48640" y="365760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7FB299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9" name="Shape 7"/>
          <p:cNvSpPr/>
          <p:nvPr/>
        </p:nvSpPr>
        <p:spPr>
          <a:xfrm>
            <a:off x="713232" y="3776472"/>
            <a:ext cx="329184" cy="329184"/>
          </a:xfrm>
          <a:prstGeom prst="ellipse">
            <a:avLst/>
          </a:prstGeom>
          <a:solidFill>
            <a:srgbClr val="1B4B43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0" name="Text 8"/>
          <p:cNvSpPr/>
          <p:nvPr/>
        </p:nvSpPr>
        <p:spPr>
          <a:xfrm>
            <a:off x="713232" y="37764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34440" y="3657600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as her only source since it agrees with her view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34340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7FB299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3" name="Shape 11"/>
          <p:cNvSpPr/>
          <p:nvPr/>
        </p:nvSpPr>
        <p:spPr>
          <a:xfrm>
            <a:off x="713232" y="4462272"/>
            <a:ext cx="329184" cy="329184"/>
          </a:xfrm>
          <a:prstGeom prst="ellipse">
            <a:avLst/>
          </a:prstGeom>
          <a:solidFill>
            <a:srgbClr val="1B4B43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4" name="Text 12"/>
          <p:cNvSpPr/>
          <p:nvPr/>
        </p:nvSpPr>
        <p:spPr>
          <a:xfrm>
            <a:off x="713232" y="44622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34440" y="4343400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who wrote it, what evidence it gives, and look for sources with other perspectives too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02920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7FB299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7" name="Shape 15"/>
          <p:cNvSpPr/>
          <p:nvPr/>
        </p:nvSpPr>
        <p:spPr>
          <a:xfrm>
            <a:off x="713232" y="5148072"/>
            <a:ext cx="329184" cy="329184"/>
          </a:xfrm>
          <a:prstGeom prst="ellipse">
            <a:avLst/>
          </a:prstGeom>
          <a:solidFill>
            <a:srgbClr val="1B4B43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8" name="Text 16"/>
          <p:cNvSpPr/>
          <p:nvPr/>
        </p:nvSpPr>
        <p:spPr>
          <a:xfrm>
            <a:off x="713232" y="51480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34440" y="5029200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strongest paragraph directly into her project without a citation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571500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7FB299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1" name="Shape 19"/>
          <p:cNvSpPr/>
          <p:nvPr/>
        </p:nvSpPr>
        <p:spPr>
          <a:xfrm>
            <a:off x="713232" y="5833872"/>
            <a:ext cx="329184" cy="329184"/>
          </a:xfrm>
          <a:prstGeom prst="ellipse">
            <a:avLst/>
          </a:prstGeom>
          <a:solidFill>
            <a:srgbClr val="1B4B43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22" name="Text 20"/>
          <p:cNvSpPr/>
          <p:nvPr/>
        </p:nvSpPr>
        <p:spPr>
          <a:xfrm>
            <a:off x="713232" y="58338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34440" y="5715000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 it must be wrong because it's a blog, not a book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through to the next slide to check the answer →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Skills Masterclass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Check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75720" y="-502920"/>
            <a:ext cx="1463040" cy="1463040"/>
          </a:xfrm>
          <a:prstGeom prst="ellipse">
            <a:avLst/>
          </a:prstGeom>
          <a:solidFill>
            <a:srgbClr val="E4EFE8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4F7F5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6" name="Text 4"/>
          <p:cNvSpPr/>
          <p:nvPr/>
        </p:nvSpPr>
        <p:spPr>
          <a:xfrm>
            <a:off x="822960" y="16916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geography project, Priya finds one blog post that strongly supports her opinion on a debated policy.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should Priya do before using it as her main source?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48640" y="365760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7FB299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9" name="Shape 7"/>
          <p:cNvSpPr/>
          <p:nvPr/>
        </p:nvSpPr>
        <p:spPr>
          <a:xfrm>
            <a:off x="713232" y="3776472"/>
            <a:ext cx="329184" cy="329184"/>
          </a:xfrm>
          <a:prstGeom prst="ellipse">
            <a:avLst/>
          </a:prstGeom>
          <a:solidFill>
            <a:srgbClr val="1B4B43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0" name="Text 8"/>
          <p:cNvSpPr/>
          <p:nvPr/>
        </p:nvSpPr>
        <p:spPr>
          <a:xfrm>
            <a:off x="713232" y="37764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34440" y="3657600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as her only source since it agrees with her view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34340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CE8D2"/>
          </a:solidFill>
          <a:ln w="25400">
            <a:solidFill>
              <a:srgbClr val="E8871E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3" name="Shape 11"/>
          <p:cNvSpPr/>
          <p:nvPr/>
        </p:nvSpPr>
        <p:spPr>
          <a:xfrm>
            <a:off x="713232" y="4462272"/>
            <a:ext cx="329184" cy="329184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4" name="Text 12"/>
          <p:cNvSpPr/>
          <p:nvPr/>
        </p:nvSpPr>
        <p:spPr>
          <a:xfrm>
            <a:off x="713232" y="44622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34440" y="4343400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who wrote it, what evidence it gives, and look for sources with other perspectives too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02920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7FB299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7" name="Shape 15"/>
          <p:cNvSpPr/>
          <p:nvPr/>
        </p:nvSpPr>
        <p:spPr>
          <a:xfrm>
            <a:off x="713232" y="5148072"/>
            <a:ext cx="329184" cy="329184"/>
          </a:xfrm>
          <a:prstGeom prst="ellipse">
            <a:avLst/>
          </a:prstGeom>
          <a:solidFill>
            <a:srgbClr val="1B4B43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8" name="Text 16"/>
          <p:cNvSpPr/>
          <p:nvPr/>
        </p:nvSpPr>
        <p:spPr>
          <a:xfrm>
            <a:off x="713232" y="51480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34440" y="5029200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strongest paragraph directly into her project without a citation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571500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7FB299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1" name="Shape 19"/>
          <p:cNvSpPr/>
          <p:nvPr/>
        </p:nvSpPr>
        <p:spPr>
          <a:xfrm>
            <a:off x="713232" y="5833872"/>
            <a:ext cx="329184" cy="329184"/>
          </a:xfrm>
          <a:prstGeom prst="ellipse">
            <a:avLst/>
          </a:prstGeom>
          <a:solidFill>
            <a:srgbClr val="1B4B43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22" name="Text 20"/>
          <p:cNvSpPr/>
          <p:nvPr/>
        </p:nvSpPr>
        <p:spPr>
          <a:xfrm>
            <a:off x="713232" y="58338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34440" y="5715000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 it must be wrong because it's a blog, not a book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6446520"/>
            <a:ext cx="11064240" cy="0"/>
          </a:xfrm>
          <a:prstGeom prst="roundRect">
            <a:avLst>
              <a:gd name="adj" fmla="val Infinity"/>
            </a:avLst>
          </a:prstGeom>
          <a:solidFill>
            <a:srgbClr val="E4EFE8"/>
          </a:solidFill>
          <a:ln/>
        </p:spPr>
        <p:txBody>
          <a:bodyPr/>
          <a:lstStyle/>
          <a:p>
            <a:endParaRPr lang="en-NZ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B4B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486400" cy="5486400"/>
          </a:xfrm>
          <a:prstGeom prst="ellipse">
            <a:avLst/>
          </a:prstGeom>
          <a:solidFill>
            <a:srgbClr val="12332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FB299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4" name="Text 2"/>
          <p:cNvSpPr/>
          <p:nvPr/>
        </p:nvSpPr>
        <p:spPr>
          <a:xfrm>
            <a:off x="914400" y="1965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7FB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42316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It Down on Paper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60120" y="39776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7FB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450" dirty="0">
                <a:solidFill>
                  <a:srgbClr val="DC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what a piece of writing needs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60120" y="4361688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7FB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450" dirty="0">
                <a:solidFill>
                  <a:srgbClr val="DC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before you write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60120" y="4745736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7FB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450" dirty="0">
                <a:solidFill>
                  <a:srgbClr val="DC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your argument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60120" y="5129784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7FB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450" dirty="0">
                <a:solidFill>
                  <a:srgbClr val="DC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 tone, style and citations</a:t>
            </a:r>
            <a:endParaRPr lang="en-US" sz="14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14 · PULLING YOUR IDEAS TOGETHER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Anatomy of a Great Essay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75720" y="-502920"/>
            <a:ext cx="1463040" cy="1463040"/>
          </a:xfrm>
          <a:prstGeom prst="ellipse">
            <a:avLst/>
          </a:prstGeom>
          <a:solidFill>
            <a:srgbClr val="E4EFE8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1B4B43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25880" y="1709928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answers the actual question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325880" y="2048256"/>
            <a:ext cx="10241280" cy="1203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biggest cause of a low mark is writing well about the wrong thing. Underline the key command words in the question before you start.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30708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7FB299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0" name="Text 8"/>
          <p:cNvSpPr/>
          <p:nvPr/>
        </p:nvSpPr>
        <p:spPr>
          <a:xfrm>
            <a:off x="548640" y="33070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25880" y="3279648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has one clear argument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325880" y="3617976"/>
            <a:ext cx="10241280" cy="1203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paragraph should support your central point, not wander into interesting-but-unrelated territory.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87680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1B4B43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4" name="Text 12"/>
          <p:cNvSpPr/>
          <p:nvPr/>
        </p:nvSpPr>
        <p:spPr>
          <a:xfrm>
            <a:off x="548640" y="48768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25880" y="4849368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built on evidence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1325880" y="5187696"/>
            <a:ext cx="10241280" cy="1203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need to be backed by facts, examples or quotations — not just stated with confidence.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Skills Masterclass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14 · PULLING YOUR IDEAS TOGETHER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Brainstorm &amp; Plan Before You Write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75720" y="-502920"/>
            <a:ext cx="1463040" cy="1463040"/>
          </a:xfrm>
          <a:prstGeom prst="ellipse">
            <a:avLst/>
          </a:prstGeom>
          <a:solidFill>
            <a:srgbClr val="E4EFE8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526030" cy="3383280"/>
          </a:xfrm>
          <a:prstGeom prst="roundRect">
            <a:avLst>
              <a:gd name="adj" fmla="val 3620"/>
            </a:avLst>
          </a:prstGeom>
          <a:solidFill>
            <a:srgbClr val="E4EFE8"/>
          </a:solidFill>
          <a:ln w="12700">
            <a:solidFill>
              <a:srgbClr val="1B4B43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6" name="Shape 4"/>
          <p:cNvSpPr/>
          <p:nvPr/>
        </p:nvSpPr>
        <p:spPr>
          <a:xfrm>
            <a:off x="1491615" y="1783080"/>
            <a:ext cx="640080" cy="640080"/>
          </a:xfrm>
          <a:prstGeom prst="ellipse">
            <a:avLst/>
          </a:prstGeom>
          <a:solidFill>
            <a:srgbClr val="E8871E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7" name="Text 5"/>
          <p:cNvSpPr/>
          <p:nvPr/>
        </p:nvSpPr>
        <p:spPr>
          <a:xfrm>
            <a:off x="1491615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2560320"/>
            <a:ext cx="216027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2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Unpack the question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216027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 really asking? Underline command words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74670" y="352044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FB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394710" y="2103120"/>
            <a:ext cx="2526030" cy="3383280"/>
          </a:xfrm>
          <a:prstGeom prst="roundRect">
            <a:avLst>
              <a:gd name="adj" fmla="val 3620"/>
            </a:avLst>
          </a:prstGeom>
          <a:solidFill>
            <a:srgbClr val="F4F7F5"/>
          </a:solidFill>
          <a:ln w="12700">
            <a:solidFill>
              <a:srgbClr val="1B4B43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2" name="Shape 10"/>
          <p:cNvSpPr/>
          <p:nvPr/>
        </p:nvSpPr>
        <p:spPr>
          <a:xfrm>
            <a:off x="4337685" y="1783080"/>
            <a:ext cx="640080" cy="640080"/>
          </a:xfrm>
          <a:prstGeom prst="ellipse">
            <a:avLst/>
          </a:prstGeom>
          <a:solidFill>
            <a:srgbClr val="E8871E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3" name="Text 11"/>
          <p:cNvSpPr/>
          <p:nvPr/>
        </p:nvSpPr>
        <p:spPr>
          <a:xfrm>
            <a:off x="4337685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577590" y="2560320"/>
            <a:ext cx="216027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2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 freely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577590" y="3291840"/>
            <a:ext cx="216027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every idea, evidence and example you can think of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20740" y="352044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FB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40780" y="2103120"/>
            <a:ext cx="2526030" cy="3383280"/>
          </a:xfrm>
          <a:prstGeom prst="roundRect">
            <a:avLst>
              <a:gd name="adj" fmla="val 3620"/>
            </a:avLst>
          </a:prstGeom>
          <a:solidFill>
            <a:srgbClr val="E4EFE8"/>
          </a:solidFill>
          <a:ln w="12700">
            <a:solidFill>
              <a:srgbClr val="1B4B43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8" name="Shape 16"/>
          <p:cNvSpPr/>
          <p:nvPr/>
        </p:nvSpPr>
        <p:spPr>
          <a:xfrm>
            <a:off x="7183755" y="1783080"/>
            <a:ext cx="640080" cy="640080"/>
          </a:xfrm>
          <a:prstGeom prst="ellipse">
            <a:avLst/>
          </a:prstGeom>
          <a:solidFill>
            <a:srgbClr val="E8871E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9" name="Text 17"/>
          <p:cNvSpPr/>
          <p:nvPr/>
        </p:nvSpPr>
        <p:spPr>
          <a:xfrm>
            <a:off x="7183755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423660" y="2560320"/>
            <a:ext cx="216027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2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&amp; order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23660" y="3291840"/>
            <a:ext cx="216027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related ideas into paragraph-sized chunks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766810" y="352044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FB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9086850" y="2103120"/>
            <a:ext cx="2526030" cy="3383280"/>
          </a:xfrm>
          <a:prstGeom prst="roundRect">
            <a:avLst>
              <a:gd name="adj" fmla="val 3620"/>
            </a:avLst>
          </a:prstGeom>
          <a:solidFill>
            <a:srgbClr val="F4F7F5"/>
          </a:solidFill>
          <a:ln w="12700">
            <a:solidFill>
              <a:srgbClr val="1B4B43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4" name="Shape 22"/>
          <p:cNvSpPr/>
          <p:nvPr/>
        </p:nvSpPr>
        <p:spPr>
          <a:xfrm>
            <a:off x="10029825" y="1783080"/>
            <a:ext cx="640080" cy="640080"/>
          </a:xfrm>
          <a:prstGeom prst="ellipse">
            <a:avLst/>
          </a:prstGeom>
          <a:solidFill>
            <a:srgbClr val="E8871E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5" name="Text 23"/>
          <p:cNvSpPr/>
          <p:nvPr/>
        </p:nvSpPr>
        <p:spPr>
          <a:xfrm>
            <a:off x="10029825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269730" y="2560320"/>
            <a:ext cx="216027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2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a plan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9269730" y="3291840"/>
            <a:ext cx="216027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 per paragraph before you write in full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Skills Masterclass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15 · WRITING PROCESS BASICS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Structuring Your Writing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75720" y="-502920"/>
            <a:ext cx="1463040" cy="1463040"/>
          </a:xfrm>
          <a:prstGeom prst="ellipse">
            <a:avLst/>
          </a:prstGeom>
          <a:solidFill>
            <a:srgbClr val="E4EFE8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49240" cy="4434840"/>
          </a:xfrm>
          <a:prstGeom prst="roundRect">
            <a:avLst>
              <a:gd name="adj" fmla="val 2062"/>
            </a:avLst>
          </a:prstGeom>
          <a:solidFill>
            <a:srgbClr val="F4F7F5"/>
          </a:solidFill>
          <a:ln w="15875">
            <a:solidFill>
              <a:srgbClr val="1B4B43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349240" cy="548640"/>
          </a:xfrm>
          <a:prstGeom prst="roundRect">
            <a:avLst>
              <a:gd name="adj" fmla="val 16667"/>
            </a:avLst>
          </a:prstGeom>
          <a:solidFill>
            <a:srgbClr val="1B4B43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5349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Section Does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Introduction: states your argument and roadmap — no new evidence yet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3127248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paragraphs: one clear point each, backed by evidence, linked to your argument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3785616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sums up your argument — doesn't introduce brand-new points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355080" y="1691640"/>
            <a:ext cx="5349240" cy="4434840"/>
          </a:xfrm>
          <a:prstGeom prst="roundRect">
            <a:avLst>
              <a:gd name="adj" fmla="val 2062"/>
            </a:avLst>
          </a:prstGeom>
          <a:solidFill>
            <a:srgbClr val="F4F7F5"/>
          </a:solidFill>
          <a:ln w="15875">
            <a:solidFill>
              <a:srgbClr val="E8871E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2" name="Shape 10"/>
          <p:cNvSpPr/>
          <p:nvPr/>
        </p:nvSpPr>
        <p:spPr>
          <a:xfrm>
            <a:off x="6355080" y="1691640"/>
            <a:ext cx="5349240" cy="548640"/>
          </a:xfrm>
          <a:prstGeom prst="roundRect">
            <a:avLst>
              <a:gd name="adj" fmla="val 16667"/>
            </a:avLst>
          </a:prstGeom>
          <a:solidFill>
            <a:srgbClr val="E8871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3" name="Text 11"/>
          <p:cNvSpPr/>
          <p:nvPr/>
        </p:nvSpPr>
        <p:spPr>
          <a:xfrm>
            <a:off x="6355080" y="1691640"/>
            <a:ext cx="5349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Signs Your Structure Needs Work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629400" y="2468880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paragraph makes two unrelated points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629400" y="2971800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summarise a paragraph in one sentence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629400" y="3474720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conclusion introduces a new idea instead of summarising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629400" y="3977640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Ideas appear in a different order than your plan promised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Skills Masterclass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15 · WRITING PROCESS BASICS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&amp; Using Draft Feedback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75720" y="-502920"/>
            <a:ext cx="1463040" cy="1463040"/>
          </a:xfrm>
          <a:prstGeom prst="ellipse">
            <a:avLst/>
          </a:prstGeom>
          <a:solidFill>
            <a:srgbClr val="E4EFE8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earlier you share a rough draft, the more useful the feedback can be — a finished piece is much harder to meaningfully change.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2368296"/>
            <a:ext cx="219456" cy="219456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7" name="Text 5"/>
          <p:cNvSpPr/>
          <p:nvPr/>
        </p:nvSpPr>
        <p:spPr>
          <a:xfrm>
            <a:off x="1051560" y="226771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a plan or rough draft with a teacher or peer before it's polished — ask specifically about structure and argument, not just spelling.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94360" y="2990088"/>
            <a:ext cx="219456" cy="219456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9" name="Text 7"/>
          <p:cNvSpPr/>
          <p:nvPr/>
        </p:nvSpPr>
        <p:spPr>
          <a:xfrm>
            <a:off x="1051560" y="2889504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focused question: 'Does my second paragraph actually support my argument?' gets a more useful answer than 'is this good?'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94360" y="3611880"/>
            <a:ext cx="219456" cy="219456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1" name="Text 9"/>
          <p:cNvSpPr/>
          <p:nvPr/>
        </p:nvSpPr>
        <p:spPr>
          <a:xfrm>
            <a:off x="1051560" y="3511296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requests for help and what you learned from them in your learning diary, so patterns become visible over time.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Feedback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Skills Masterclass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16 · FORM, FUNCTION AND STYLE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Vocabulary: Academic Tone &amp; Citations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75720" y="-502920"/>
            <a:ext cx="1463040" cy="1463040"/>
          </a:xfrm>
          <a:prstGeom prst="ellipse">
            <a:avLst/>
          </a:prstGeom>
          <a:solidFill>
            <a:srgbClr val="E4EFE8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49240" cy="4434840"/>
          </a:xfrm>
          <a:prstGeom prst="roundRect">
            <a:avLst>
              <a:gd name="adj" fmla="val 2062"/>
            </a:avLst>
          </a:prstGeom>
          <a:solidFill>
            <a:srgbClr val="F4F7F5"/>
          </a:solidFill>
          <a:ln w="12700">
            <a:solidFill>
              <a:srgbClr val="1B4B43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349240" cy="685800"/>
          </a:xfrm>
          <a:prstGeom prst="rect">
            <a:avLst/>
          </a:prstGeom>
          <a:solidFill>
            <a:srgbClr val="1B4B43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5349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Academic Tone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51460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77240" y="2807208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Formal, precise language that avoids slang, contractions and unsupported opinion — while still being clear and direct.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3675888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77240" y="3968496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2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data suggests a strong link" (academic) vs. "It's basically obvious that..." (too informal/unsupported).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4791456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Formal doesn't mean complicated — a clear, simple sentence beats an overly fancy one every time.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63640" y="1691640"/>
            <a:ext cx="5349240" cy="4434840"/>
          </a:xfrm>
          <a:prstGeom prst="roundRect">
            <a:avLst>
              <a:gd name="adj" fmla="val 2062"/>
            </a:avLst>
          </a:prstGeom>
          <a:solidFill>
            <a:srgbClr val="F4F7F5"/>
          </a:solidFill>
          <a:ln w="12700">
            <a:solidFill>
              <a:srgbClr val="1B4B43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4" name="Shape 12"/>
          <p:cNvSpPr/>
          <p:nvPr/>
        </p:nvSpPr>
        <p:spPr>
          <a:xfrm>
            <a:off x="6263640" y="1691640"/>
            <a:ext cx="5349240" cy="685800"/>
          </a:xfrm>
          <a:prstGeom prst="rect">
            <a:avLst/>
          </a:prstGeom>
          <a:solidFill>
            <a:srgbClr val="1B4B43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5" name="Text 13"/>
          <p:cNvSpPr/>
          <p:nvPr/>
        </p:nvSpPr>
        <p:spPr>
          <a:xfrm>
            <a:off x="6263640" y="1691640"/>
            <a:ext cx="5349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Citation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92240" y="251460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/saɪˈteɪʃən/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92240" y="288036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172968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note showing exactly where a fact, quote or idea came from, so a reader could find the same source.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92240" y="4041648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92240" y="4334256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2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(Smith, 2023) or a footnote pointing to the original article, book or website.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92240" y="5157216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Check your school or subject's required citation style — the format varies, but the habit of citing everything doesn't.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Skills Masterclass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16 · FORM, FUNCTION AND STYLE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Writing Mistakes to Avoid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75720" y="-502920"/>
            <a:ext cx="1463040" cy="1463040"/>
          </a:xfrm>
          <a:prstGeom prst="ellipse">
            <a:avLst/>
          </a:prstGeom>
          <a:solidFill>
            <a:srgbClr val="E4EFE8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1B4B43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25880" y="1709928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Overusing the passive voice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325880" y="2048256"/>
            <a:ext cx="10241280" cy="1203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experiment was conducted" is vaguer and wordier than "We conducted the experiment." Use active voice unless there's a good reason not to.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30708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7FB299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0" name="Text 8"/>
          <p:cNvSpPr/>
          <p:nvPr/>
        </p:nvSpPr>
        <p:spPr>
          <a:xfrm>
            <a:off x="548640" y="33070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25880" y="3279648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Misplaced apostrophes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325880" y="3617976"/>
            <a:ext cx="10241280" cy="1203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"Its" shows possession (the dog wagged its tail); "it's" is short for 'it is'. Read the sentence aloud with 'it is' substituted to check.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87680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1B4B43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4" name="Text 12"/>
          <p:cNvSpPr/>
          <p:nvPr/>
        </p:nvSpPr>
        <p:spPr>
          <a:xfrm>
            <a:off x="548640" y="48768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25880" y="4849368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Unexplained acronyms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1325880" y="5187696"/>
            <a:ext cx="10241280" cy="1203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 out an acronym in full the first time you use it, then use the short form afterwards — never assume the reader already knows it.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Skills Masterclass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Check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75720" y="-502920"/>
            <a:ext cx="1463040" cy="1463040"/>
          </a:xfrm>
          <a:prstGeom prst="ellipse">
            <a:avLst/>
          </a:prstGeom>
          <a:solidFill>
            <a:srgbClr val="E4EFE8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4F7F5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6" name="Text 4"/>
          <p:cNvSpPr/>
          <p:nvPr/>
        </p:nvSpPr>
        <p:spPr>
          <a:xfrm>
            <a:off x="822960" y="16916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Leo's conclusion paragraph introduces a brand-new statistic that wasn't mentioned anywhere else in his essay.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the problem, and how should he fix it?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48640" y="365760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7FB299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9" name="Shape 7"/>
          <p:cNvSpPr/>
          <p:nvPr/>
        </p:nvSpPr>
        <p:spPr>
          <a:xfrm>
            <a:off x="713232" y="3776472"/>
            <a:ext cx="329184" cy="329184"/>
          </a:xfrm>
          <a:prstGeom prst="ellipse">
            <a:avLst/>
          </a:prstGeom>
          <a:solidFill>
            <a:srgbClr val="1B4B43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0" name="Text 8"/>
          <p:cNvSpPr/>
          <p:nvPr/>
        </p:nvSpPr>
        <p:spPr>
          <a:xfrm>
            <a:off x="713232" y="37764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34440" y="3657600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problem — a strong new fact at the end makes a good final impression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34340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7FB299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3" name="Shape 11"/>
          <p:cNvSpPr/>
          <p:nvPr/>
        </p:nvSpPr>
        <p:spPr>
          <a:xfrm>
            <a:off x="713232" y="4462272"/>
            <a:ext cx="329184" cy="329184"/>
          </a:xfrm>
          <a:prstGeom prst="ellipse">
            <a:avLst/>
          </a:prstGeom>
          <a:solidFill>
            <a:srgbClr val="1B4B43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4" name="Text 12"/>
          <p:cNvSpPr/>
          <p:nvPr/>
        </p:nvSpPr>
        <p:spPr>
          <a:xfrm>
            <a:off x="713232" y="44622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34440" y="4343400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conclusion shouldn't introduce new evidence; he should either move the statistic into a body paragraph or cut it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02920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7FB299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7" name="Shape 15"/>
          <p:cNvSpPr/>
          <p:nvPr/>
        </p:nvSpPr>
        <p:spPr>
          <a:xfrm>
            <a:off x="713232" y="5148072"/>
            <a:ext cx="329184" cy="329184"/>
          </a:xfrm>
          <a:prstGeom prst="ellipse">
            <a:avLst/>
          </a:prstGeom>
          <a:solidFill>
            <a:srgbClr val="1B4B43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8" name="Text 16"/>
          <p:cNvSpPr/>
          <p:nvPr/>
        </p:nvSpPr>
        <p:spPr>
          <a:xfrm>
            <a:off x="713232" y="51480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34440" y="5029200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should delete the whole conclusion and end on his last body paragraph instead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571500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7FB299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1" name="Shape 19"/>
          <p:cNvSpPr/>
          <p:nvPr/>
        </p:nvSpPr>
        <p:spPr>
          <a:xfrm>
            <a:off x="713232" y="5833872"/>
            <a:ext cx="329184" cy="329184"/>
          </a:xfrm>
          <a:prstGeom prst="ellipse">
            <a:avLst/>
          </a:prstGeom>
          <a:solidFill>
            <a:srgbClr val="1B4B43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22" name="Text 20"/>
          <p:cNvSpPr/>
          <p:nvPr/>
        </p:nvSpPr>
        <p:spPr>
          <a:xfrm>
            <a:off x="713232" y="58338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34440" y="5715000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should add three more new facts to make the ending stronger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through to the next slide to check the answer →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Skills Masterclass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Check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75720" y="-502920"/>
            <a:ext cx="1463040" cy="1463040"/>
          </a:xfrm>
          <a:prstGeom prst="ellipse">
            <a:avLst/>
          </a:prstGeom>
          <a:solidFill>
            <a:srgbClr val="E4EFE8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4F7F5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6" name="Text 4"/>
          <p:cNvSpPr/>
          <p:nvPr/>
        </p:nvSpPr>
        <p:spPr>
          <a:xfrm>
            <a:off x="822960" y="16916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Leo's conclusion paragraph introduces a brand-new statistic that wasn't mentioned anywhere else in his essay.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the problem, and how should he fix it?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48640" y="365760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7FB299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9" name="Shape 7"/>
          <p:cNvSpPr/>
          <p:nvPr/>
        </p:nvSpPr>
        <p:spPr>
          <a:xfrm>
            <a:off x="713232" y="3776472"/>
            <a:ext cx="329184" cy="329184"/>
          </a:xfrm>
          <a:prstGeom prst="ellipse">
            <a:avLst/>
          </a:prstGeom>
          <a:solidFill>
            <a:srgbClr val="1B4B43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0" name="Text 8"/>
          <p:cNvSpPr/>
          <p:nvPr/>
        </p:nvSpPr>
        <p:spPr>
          <a:xfrm>
            <a:off x="713232" y="37764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34440" y="3657600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problem — a strong new fact at the end makes a good final impression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34340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CE8D2"/>
          </a:solidFill>
          <a:ln w="25400">
            <a:solidFill>
              <a:srgbClr val="E8871E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3" name="Shape 11"/>
          <p:cNvSpPr/>
          <p:nvPr/>
        </p:nvSpPr>
        <p:spPr>
          <a:xfrm>
            <a:off x="713232" y="4462272"/>
            <a:ext cx="329184" cy="329184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4" name="Text 12"/>
          <p:cNvSpPr/>
          <p:nvPr/>
        </p:nvSpPr>
        <p:spPr>
          <a:xfrm>
            <a:off x="713232" y="44622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34440" y="4343400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conclusion shouldn't introduce new evidence; he should either move the statistic into a body paragraph or cut it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02920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7FB299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7" name="Shape 15"/>
          <p:cNvSpPr/>
          <p:nvPr/>
        </p:nvSpPr>
        <p:spPr>
          <a:xfrm>
            <a:off x="713232" y="5148072"/>
            <a:ext cx="329184" cy="329184"/>
          </a:xfrm>
          <a:prstGeom prst="ellipse">
            <a:avLst/>
          </a:prstGeom>
          <a:solidFill>
            <a:srgbClr val="1B4B43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8" name="Text 16"/>
          <p:cNvSpPr/>
          <p:nvPr/>
        </p:nvSpPr>
        <p:spPr>
          <a:xfrm>
            <a:off x="713232" y="51480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34440" y="5029200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should delete the whole conclusion and end on his last body paragraph instead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571500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7FB299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1" name="Shape 19"/>
          <p:cNvSpPr/>
          <p:nvPr/>
        </p:nvSpPr>
        <p:spPr>
          <a:xfrm>
            <a:off x="713232" y="5833872"/>
            <a:ext cx="329184" cy="329184"/>
          </a:xfrm>
          <a:prstGeom prst="ellipse">
            <a:avLst/>
          </a:prstGeom>
          <a:solidFill>
            <a:srgbClr val="1B4B43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22" name="Text 20"/>
          <p:cNvSpPr/>
          <p:nvPr/>
        </p:nvSpPr>
        <p:spPr>
          <a:xfrm>
            <a:off x="713232" y="58338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34440" y="5715000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should add three more new facts to make the ending stronger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6446520"/>
            <a:ext cx="11064240" cy="0"/>
          </a:xfrm>
          <a:prstGeom prst="roundRect">
            <a:avLst>
              <a:gd name="adj" fmla="val Infinity"/>
            </a:avLst>
          </a:prstGeom>
          <a:solidFill>
            <a:srgbClr val="E4EFE8"/>
          </a:solidFill>
          <a:ln/>
        </p:spPr>
        <p:txBody>
          <a:bodyPr/>
          <a:lstStyle/>
          <a:p>
            <a:endParaRPr lang="en-NZ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B4B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486400" cy="5486400"/>
          </a:xfrm>
          <a:prstGeom prst="ellipse">
            <a:avLst/>
          </a:prstGeom>
          <a:solidFill>
            <a:srgbClr val="12332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4" name="Text 2"/>
          <p:cNvSpPr/>
          <p:nvPr/>
        </p:nvSpPr>
        <p:spPr>
          <a:xfrm>
            <a:off x="914400" y="1965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42316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Surviving (and Enjoying) Exams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60120" y="39776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450" dirty="0">
                <a:solidFill>
                  <a:srgbClr val="DC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your memory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60120" y="4361688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450" dirty="0">
                <a:solidFill>
                  <a:srgbClr val="DC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exam instructions carefully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60120" y="4745736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450" dirty="0">
                <a:solidFill>
                  <a:srgbClr val="DC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revision plan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60120" y="5129784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450" dirty="0">
                <a:solidFill>
                  <a:srgbClr val="DC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exam day with confidence</a:t>
            </a:r>
            <a:endParaRPr lang="en-US" sz="14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17 · MASTERING MEMORY STRATEGIES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Vocabulary: Memory Strategies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75720" y="-502920"/>
            <a:ext cx="1463040" cy="1463040"/>
          </a:xfrm>
          <a:prstGeom prst="ellipse">
            <a:avLst/>
          </a:prstGeom>
          <a:solidFill>
            <a:srgbClr val="E4EFE8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49240" cy="4434840"/>
          </a:xfrm>
          <a:prstGeom prst="roundRect">
            <a:avLst>
              <a:gd name="adj" fmla="val 2062"/>
            </a:avLst>
          </a:prstGeom>
          <a:solidFill>
            <a:srgbClr val="F4F7F5"/>
          </a:solidFill>
          <a:ln w="12700">
            <a:solidFill>
              <a:srgbClr val="1B4B43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349240" cy="685800"/>
          </a:xfrm>
          <a:prstGeom prst="rect">
            <a:avLst/>
          </a:prstGeom>
          <a:solidFill>
            <a:srgbClr val="1B4B43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5349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 of Loci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51460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/ˈloʊsaɪ/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77240" y="288036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7240" y="3172968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memory technique where you mentally 'place' items you need to remember along a familiar route, like your walk home.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7240" y="4041648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77240" y="4334256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2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remember the steps of photosynthesis, picture each stage happening at a different room in your house.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5157216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Works best for ordered lists — less useful for deeply understanding a concept, which still needs real practice.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1691640"/>
            <a:ext cx="5349240" cy="4434840"/>
          </a:xfrm>
          <a:prstGeom prst="roundRect">
            <a:avLst>
              <a:gd name="adj" fmla="val 2062"/>
            </a:avLst>
          </a:prstGeom>
          <a:solidFill>
            <a:srgbClr val="F4F7F5"/>
          </a:solidFill>
          <a:ln w="12700">
            <a:solidFill>
              <a:srgbClr val="1B4B43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5" name="Shape 13"/>
          <p:cNvSpPr/>
          <p:nvPr/>
        </p:nvSpPr>
        <p:spPr>
          <a:xfrm>
            <a:off x="6263640" y="1691640"/>
            <a:ext cx="5349240" cy="685800"/>
          </a:xfrm>
          <a:prstGeom prst="rect">
            <a:avLst/>
          </a:prstGeom>
          <a:solidFill>
            <a:srgbClr val="1B4B43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6" name="Text 14"/>
          <p:cNvSpPr/>
          <p:nvPr/>
        </p:nvSpPr>
        <p:spPr>
          <a:xfrm>
            <a:off x="6263640" y="1691640"/>
            <a:ext cx="5349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Chunking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92240" y="251460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2807208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a long list of information into smaller, related groups that are easier to hold in memory.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92240" y="3968496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2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Remembering a phone number as 555-123-4567 rather than ten separate digits.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92240" y="4791456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Chunking helps you recall the information — it doesn't replace understanding why it's true.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Skills Masterclass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17 · MASTERING MEMORY STRATEGIES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Practice: Applying a Memory Technique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75720" y="-502920"/>
            <a:ext cx="1463040" cy="1463040"/>
          </a:xfrm>
          <a:prstGeom prst="ellipse">
            <a:avLst/>
          </a:prstGeom>
          <a:solidFill>
            <a:srgbClr val="E4EFE8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1B4B43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25880" y="1709928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real topic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325880" y="2048256"/>
            <a:ext cx="10241280" cy="1203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five key facts from a subject you're currently studying.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30708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7FB299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0" name="Text 8"/>
          <p:cNvSpPr/>
          <p:nvPr/>
        </p:nvSpPr>
        <p:spPr>
          <a:xfrm>
            <a:off x="548640" y="33070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25880" y="3279648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links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325880" y="3617976"/>
            <a:ext cx="10241280" cy="1203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related facts together (chunking) or place them along a familiar route (loci).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87680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1B4B43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4" name="Text 12"/>
          <p:cNvSpPr/>
          <p:nvPr/>
        </p:nvSpPr>
        <p:spPr>
          <a:xfrm>
            <a:off x="548640" y="48768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25880" y="4849368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yourself later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1325880" y="5187696"/>
            <a:ext cx="10241280" cy="1203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back in an hour, then the next day, and try to recall the facts without looking — this spacing is what makes memory stick.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Skills Masterclass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18 · PREPARING FOR YOUR EXAMS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Exam Instructions Carefully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75720" y="-502920"/>
            <a:ext cx="1463040" cy="1463040"/>
          </a:xfrm>
          <a:prstGeom prst="ellipse">
            <a:avLst/>
          </a:prstGeom>
          <a:solidFill>
            <a:srgbClr val="E4EFE8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words in exam questions tell you exactly what kind of answer is expected — misreading them is one of the most common ways marks are lost.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2368296"/>
            <a:ext cx="219456" cy="219456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7" name="Text 5"/>
          <p:cNvSpPr/>
          <p:nvPr/>
        </p:nvSpPr>
        <p:spPr>
          <a:xfrm>
            <a:off x="1051560" y="226771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"Describe" asks you to give a detailed account — no judgement or opinion needed.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94360" y="2880360"/>
            <a:ext cx="219456" cy="219456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9" name="Text 7"/>
          <p:cNvSpPr/>
          <p:nvPr/>
        </p:nvSpPr>
        <p:spPr>
          <a:xfrm>
            <a:off x="1051560" y="2779776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"Explain" asks you to say why or how something happens, showing your reasoning.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94360" y="3392424"/>
            <a:ext cx="219456" cy="219456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1" name="Text 9"/>
          <p:cNvSpPr/>
          <p:nvPr/>
        </p:nvSpPr>
        <p:spPr>
          <a:xfrm>
            <a:off x="1051560" y="32918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"Evaluate" or "discuss" asks you to weigh up different sides and reach a reasoned conclusion.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94360" y="3904488"/>
            <a:ext cx="219456" cy="219456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3" name="Text 11"/>
          <p:cNvSpPr/>
          <p:nvPr/>
        </p:nvSpPr>
        <p:spPr>
          <a:xfrm>
            <a:off x="1051560" y="3803904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writing anything, check: how many questions must I answer, and are there choices within sections?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Instructions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Skills Masterclass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18 · PREPARING FOR YOUR EXAMS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 Care of Yourself Before Exams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75720" y="-502920"/>
            <a:ext cx="1463040" cy="1463040"/>
          </a:xfrm>
          <a:prstGeom prst="ellipse">
            <a:avLst/>
          </a:prstGeom>
          <a:solidFill>
            <a:srgbClr val="E4EFE8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5" name="Shape 3"/>
          <p:cNvSpPr/>
          <p:nvPr/>
        </p:nvSpPr>
        <p:spPr>
          <a:xfrm>
            <a:off x="594360" y="1682496"/>
            <a:ext cx="219456" cy="219456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6" name="Text 4"/>
          <p:cNvSpPr/>
          <p:nvPr/>
        </p:nvSpPr>
        <p:spPr>
          <a:xfrm>
            <a:off x="1051560" y="158191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illness, anxiety, or a personal issue could affect your exam, tell a teacher or your school's support office as early as possible — most schools have processes to help, but they need advance notice.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94360" y="2304288"/>
            <a:ext cx="219456" cy="219456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8" name="Text 6"/>
          <p:cNvSpPr/>
          <p:nvPr/>
        </p:nvSpPr>
        <p:spPr>
          <a:xfrm>
            <a:off x="1051560" y="2203704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and regular meals in the days before an exam do more for recall than a last-minute all-nighter.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94360" y="2816352"/>
            <a:ext cx="219456" cy="219456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0" name="Text 8"/>
          <p:cNvSpPr/>
          <p:nvPr/>
        </p:nvSpPr>
        <p:spPr>
          <a:xfrm>
            <a:off x="1051560" y="27157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normal to feel some nerves — a bit of adrenaline sharpens focus; the goal is to manage it, not eliminate it completely.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Wellbeing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Skills Masterclass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19 · COPING WITH THE COUNTDOWN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Revision Timetable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75720" y="-502920"/>
            <a:ext cx="1463040" cy="1463040"/>
          </a:xfrm>
          <a:prstGeom prst="ellipse">
            <a:avLst/>
          </a:prstGeom>
          <a:solidFill>
            <a:srgbClr val="E4EFE8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526030" cy="3383280"/>
          </a:xfrm>
          <a:prstGeom prst="roundRect">
            <a:avLst>
              <a:gd name="adj" fmla="val 3620"/>
            </a:avLst>
          </a:prstGeom>
          <a:solidFill>
            <a:srgbClr val="E4EFE8"/>
          </a:solidFill>
          <a:ln w="12700">
            <a:solidFill>
              <a:srgbClr val="1B4B43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6" name="Shape 4"/>
          <p:cNvSpPr/>
          <p:nvPr/>
        </p:nvSpPr>
        <p:spPr>
          <a:xfrm>
            <a:off x="1491615" y="1783080"/>
            <a:ext cx="640080" cy="640080"/>
          </a:xfrm>
          <a:prstGeom prst="ellipse">
            <a:avLst/>
          </a:prstGeom>
          <a:solidFill>
            <a:srgbClr val="E8871E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7" name="Text 5"/>
          <p:cNvSpPr/>
          <p:nvPr/>
        </p:nvSpPr>
        <p:spPr>
          <a:xfrm>
            <a:off x="1491615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2560320"/>
            <a:ext cx="216027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2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your exams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216027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Dates, subjects, and how many topics each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74670" y="352044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FB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394710" y="2103120"/>
            <a:ext cx="2526030" cy="3383280"/>
          </a:xfrm>
          <a:prstGeom prst="roundRect">
            <a:avLst>
              <a:gd name="adj" fmla="val 3620"/>
            </a:avLst>
          </a:prstGeom>
          <a:solidFill>
            <a:srgbClr val="F4F7F5"/>
          </a:solidFill>
          <a:ln w="12700">
            <a:solidFill>
              <a:srgbClr val="1B4B43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2" name="Shape 10"/>
          <p:cNvSpPr/>
          <p:nvPr/>
        </p:nvSpPr>
        <p:spPr>
          <a:xfrm>
            <a:off x="4337685" y="1783080"/>
            <a:ext cx="640080" cy="640080"/>
          </a:xfrm>
          <a:prstGeom prst="ellipse">
            <a:avLst/>
          </a:prstGeom>
          <a:solidFill>
            <a:srgbClr val="E8871E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3" name="Text 11"/>
          <p:cNvSpPr/>
          <p:nvPr/>
        </p:nvSpPr>
        <p:spPr>
          <a:xfrm>
            <a:off x="4337685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577590" y="2560320"/>
            <a:ext cx="216027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2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backwards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577590" y="3291840"/>
            <a:ext cx="216027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the days available and divide topics across them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20740" y="352044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FB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40780" y="2103120"/>
            <a:ext cx="2526030" cy="3383280"/>
          </a:xfrm>
          <a:prstGeom prst="roundRect">
            <a:avLst>
              <a:gd name="adj" fmla="val 3620"/>
            </a:avLst>
          </a:prstGeom>
          <a:solidFill>
            <a:srgbClr val="E4EFE8"/>
          </a:solidFill>
          <a:ln w="12700">
            <a:solidFill>
              <a:srgbClr val="1B4B43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8" name="Shape 16"/>
          <p:cNvSpPr/>
          <p:nvPr/>
        </p:nvSpPr>
        <p:spPr>
          <a:xfrm>
            <a:off x="7183755" y="1783080"/>
            <a:ext cx="640080" cy="640080"/>
          </a:xfrm>
          <a:prstGeom prst="ellipse">
            <a:avLst/>
          </a:prstGeom>
          <a:solidFill>
            <a:srgbClr val="E8871E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9" name="Text 17"/>
          <p:cNvSpPr/>
          <p:nvPr/>
        </p:nvSpPr>
        <p:spPr>
          <a:xfrm>
            <a:off x="7183755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423660" y="2560320"/>
            <a:ext cx="216027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2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subjects daily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23660" y="3291840"/>
            <a:ext cx="216027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topics keeps focus sharper than one long block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766810" y="352044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FB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9086850" y="2103120"/>
            <a:ext cx="2526030" cy="3383280"/>
          </a:xfrm>
          <a:prstGeom prst="roundRect">
            <a:avLst>
              <a:gd name="adj" fmla="val 3620"/>
            </a:avLst>
          </a:prstGeom>
          <a:solidFill>
            <a:srgbClr val="F4F7F5"/>
          </a:solidFill>
          <a:ln w="12700">
            <a:solidFill>
              <a:srgbClr val="1B4B43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4" name="Shape 22"/>
          <p:cNvSpPr/>
          <p:nvPr/>
        </p:nvSpPr>
        <p:spPr>
          <a:xfrm>
            <a:off x="10029825" y="1783080"/>
            <a:ext cx="640080" cy="640080"/>
          </a:xfrm>
          <a:prstGeom prst="ellipse">
            <a:avLst/>
          </a:prstGeom>
          <a:solidFill>
            <a:srgbClr val="E8871E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5" name="Text 23"/>
          <p:cNvSpPr/>
          <p:nvPr/>
        </p:nvSpPr>
        <p:spPr>
          <a:xfrm>
            <a:off x="10029825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269730" y="2560320"/>
            <a:ext cx="216027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2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buffer days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9269730" y="3291840"/>
            <a:ext cx="216027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topics that need extra time, and for rest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Skills Masterclass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19 · COPING WITH THE COUNTDOWN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 Day: What to 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75720" y="-502920"/>
            <a:ext cx="1463040" cy="1463040"/>
          </a:xfrm>
          <a:prstGeom prst="ellipse">
            <a:avLst/>
          </a:prstGeom>
          <a:solidFill>
            <a:srgbClr val="E4EFE8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1B4B43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25880" y="1709928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night before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325880" y="2048256"/>
            <a:ext cx="10241280" cy="1203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what you need (ID, pens, calculator), set an alarm, and stop revising early enough to sleep properly.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30708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7FB299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0" name="Text 8"/>
          <p:cNvSpPr/>
          <p:nvPr/>
        </p:nvSpPr>
        <p:spPr>
          <a:xfrm>
            <a:off x="548640" y="33070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25880" y="3279648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minutes in the room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325880" y="3617976"/>
            <a:ext cx="10241280" cy="1203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all the instructions and the whole question paper before writing anything — note how much time you have per question.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87680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1B4B43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4" name="Text 12"/>
          <p:cNvSpPr/>
          <p:nvPr/>
        </p:nvSpPr>
        <p:spPr>
          <a:xfrm>
            <a:off x="548640" y="48768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25880" y="4849368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get stuck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1325880" y="5187696"/>
            <a:ext cx="10241280" cy="1203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on and come back later rather than losing time on one question — a partial answer to every question usually beats a perfect answer to only half of them.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Skills Masterclass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Check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75720" y="-502920"/>
            <a:ext cx="1463040" cy="1463040"/>
          </a:xfrm>
          <a:prstGeom prst="ellipse">
            <a:avLst/>
          </a:prstGeom>
          <a:solidFill>
            <a:srgbClr val="E4EFE8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4F7F5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6" name="Text 4"/>
          <p:cNvSpPr/>
          <p:nvPr/>
        </p:nvSpPr>
        <p:spPr>
          <a:xfrm>
            <a:off x="822960" y="16916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her history exam, Mei sees the question 'Evaluate the impact of the policy' but writes only a description of what the policy was.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went wrong, based on what we covered?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48640" y="365760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7FB299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9" name="Shape 7"/>
          <p:cNvSpPr/>
          <p:nvPr/>
        </p:nvSpPr>
        <p:spPr>
          <a:xfrm>
            <a:off x="713232" y="3776472"/>
            <a:ext cx="329184" cy="329184"/>
          </a:xfrm>
          <a:prstGeom prst="ellipse">
            <a:avLst/>
          </a:prstGeom>
          <a:solidFill>
            <a:srgbClr val="1B4B43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0" name="Text 8"/>
          <p:cNvSpPr/>
          <p:nvPr/>
        </p:nvSpPr>
        <p:spPr>
          <a:xfrm>
            <a:off x="713232" y="37764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34440" y="3657600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— a detailed description always earns full marks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34340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7FB299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3" name="Shape 11"/>
          <p:cNvSpPr/>
          <p:nvPr/>
        </p:nvSpPr>
        <p:spPr>
          <a:xfrm>
            <a:off x="713232" y="4462272"/>
            <a:ext cx="329184" cy="329184"/>
          </a:xfrm>
          <a:prstGeom prst="ellipse">
            <a:avLst/>
          </a:prstGeom>
          <a:solidFill>
            <a:srgbClr val="1B4B43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4" name="Text 12"/>
          <p:cNvSpPr/>
          <p:nvPr/>
        </p:nvSpPr>
        <p:spPr>
          <a:xfrm>
            <a:off x="713232" y="44622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34440" y="4343400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misread the command word — 'evaluate' needed her to weigh up different impacts and reach a judgement, not just describe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02920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7FB299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7" name="Shape 15"/>
          <p:cNvSpPr/>
          <p:nvPr/>
        </p:nvSpPr>
        <p:spPr>
          <a:xfrm>
            <a:off x="713232" y="5148072"/>
            <a:ext cx="329184" cy="329184"/>
          </a:xfrm>
          <a:prstGeom prst="ellipse">
            <a:avLst/>
          </a:prstGeom>
          <a:solidFill>
            <a:srgbClr val="1B4B43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8" name="Text 16"/>
          <p:cNvSpPr/>
          <p:nvPr/>
        </p:nvSpPr>
        <p:spPr>
          <a:xfrm>
            <a:off x="713232" y="51480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34440" y="5029200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should have written about a completely different policy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571500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7FB299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1" name="Shape 19"/>
          <p:cNvSpPr/>
          <p:nvPr/>
        </p:nvSpPr>
        <p:spPr>
          <a:xfrm>
            <a:off x="713232" y="5833872"/>
            <a:ext cx="329184" cy="329184"/>
          </a:xfrm>
          <a:prstGeom prst="ellipse">
            <a:avLst/>
          </a:prstGeom>
          <a:solidFill>
            <a:srgbClr val="1B4B43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22" name="Text 20"/>
          <p:cNvSpPr/>
          <p:nvPr/>
        </p:nvSpPr>
        <p:spPr>
          <a:xfrm>
            <a:off x="713232" y="58338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34440" y="5715000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ran out of time, which is the only possible explanation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through to the next slide to check the answer →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Skills Masterclass</a:t>
            </a:r>
            <a:endParaRPr lang="en-US" sz="1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Check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75720" y="-502920"/>
            <a:ext cx="1463040" cy="1463040"/>
          </a:xfrm>
          <a:prstGeom prst="ellipse">
            <a:avLst/>
          </a:prstGeom>
          <a:solidFill>
            <a:srgbClr val="E4EFE8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4F7F5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6" name="Text 4"/>
          <p:cNvSpPr/>
          <p:nvPr/>
        </p:nvSpPr>
        <p:spPr>
          <a:xfrm>
            <a:off x="822960" y="16916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her history exam, Mei sees the question 'Evaluate the impact of the policy' but writes only a description of what the policy was.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went wrong, based on what we covered?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48640" y="365760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7FB299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9" name="Shape 7"/>
          <p:cNvSpPr/>
          <p:nvPr/>
        </p:nvSpPr>
        <p:spPr>
          <a:xfrm>
            <a:off x="713232" y="3776472"/>
            <a:ext cx="329184" cy="329184"/>
          </a:xfrm>
          <a:prstGeom prst="ellipse">
            <a:avLst/>
          </a:prstGeom>
          <a:solidFill>
            <a:srgbClr val="1B4B43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0" name="Text 8"/>
          <p:cNvSpPr/>
          <p:nvPr/>
        </p:nvSpPr>
        <p:spPr>
          <a:xfrm>
            <a:off x="713232" y="37764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34440" y="3657600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— a detailed description always earns full marks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34340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CE8D2"/>
          </a:solidFill>
          <a:ln w="25400">
            <a:solidFill>
              <a:srgbClr val="E8871E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3" name="Shape 11"/>
          <p:cNvSpPr/>
          <p:nvPr/>
        </p:nvSpPr>
        <p:spPr>
          <a:xfrm>
            <a:off x="713232" y="4462272"/>
            <a:ext cx="329184" cy="329184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4" name="Text 12"/>
          <p:cNvSpPr/>
          <p:nvPr/>
        </p:nvSpPr>
        <p:spPr>
          <a:xfrm>
            <a:off x="713232" y="44622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34440" y="4343400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misread the command word — 'evaluate' needed her to weigh up different impacts and reach a judgement, not just describe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02920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7FB299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7" name="Shape 15"/>
          <p:cNvSpPr/>
          <p:nvPr/>
        </p:nvSpPr>
        <p:spPr>
          <a:xfrm>
            <a:off x="713232" y="5148072"/>
            <a:ext cx="329184" cy="329184"/>
          </a:xfrm>
          <a:prstGeom prst="ellipse">
            <a:avLst/>
          </a:prstGeom>
          <a:solidFill>
            <a:srgbClr val="1B4B43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8" name="Text 16"/>
          <p:cNvSpPr/>
          <p:nvPr/>
        </p:nvSpPr>
        <p:spPr>
          <a:xfrm>
            <a:off x="713232" y="51480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34440" y="5029200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should have written about a completely different policy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571500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7FB299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1" name="Shape 19"/>
          <p:cNvSpPr/>
          <p:nvPr/>
        </p:nvSpPr>
        <p:spPr>
          <a:xfrm>
            <a:off x="713232" y="5833872"/>
            <a:ext cx="329184" cy="329184"/>
          </a:xfrm>
          <a:prstGeom prst="ellipse">
            <a:avLst/>
          </a:prstGeom>
          <a:solidFill>
            <a:srgbClr val="1B4B43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22" name="Text 20"/>
          <p:cNvSpPr/>
          <p:nvPr/>
        </p:nvSpPr>
        <p:spPr>
          <a:xfrm>
            <a:off x="713232" y="58338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34440" y="5715000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ran out of time, which is the only possible explanation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6446520"/>
            <a:ext cx="11064240" cy="0"/>
          </a:xfrm>
          <a:prstGeom prst="roundRect">
            <a:avLst>
              <a:gd name="adj" fmla="val Infinity"/>
            </a:avLst>
          </a:prstGeom>
          <a:solidFill>
            <a:srgbClr val="E4EFE8"/>
          </a:solidFill>
          <a:ln/>
        </p:spPr>
        <p:txBody>
          <a:bodyPr/>
          <a:lstStyle/>
          <a:p>
            <a:endParaRPr lang="en-NZ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B4B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486400" cy="5486400"/>
          </a:xfrm>
          <a:prstGeom prst="ellipse">
            <a:avLst/>
          </a:prstGeom>
          <a:solidFill>
            <a:srgbClr val="12332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FB299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4" name="Text 2"/>
          <p:cNvSpPr/>
          <p:nvPr/>
        </p:nvSpPr>
        <p:spPr>
          <a:xfrm>
            <a:off x="914400" y="1965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7FB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42316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Part of Tens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60120" y="39776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7FB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450" dirty="0">
                <a:solidFill>
                  <a:srgbClr val="DC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Time-saving techniques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60120" y="4361688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7FB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450" dirty="0">
                <a:solidFill>
                  <a:srgbClr val="DC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Ways to enjoy studying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60120" y="4745736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7FB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450" dirty="0">
                <a:solidFill>
                  <a:srgbClr val="DC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Essay-writing quick tips</a:t>
            </a:r>
            <a:endParaRPr lang="en-US" sz="14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20 · TEN TIME-SAVING TECHNIQUES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Time-Saving Techniques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75720" y="-502920"/>
            <a:ext cx="1463040" cy="1463040"/>
          </a:xfrm>
          <a:prstGeom prst="ellipse">
            <a:avLst/>
          </a:prstGeom>
          <a:solidFill>
            <a:srgbClr val="E4EFE8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habits that free up more study time than they cost.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5440680" cy="1295400"/>
          </a:xfrm>
          <a:prstGeom prst="roundRect">
            <a:avLst>
              <a:gd name="adj" fmla="val 5647"/>
            </a:avLst>
          </a:prstGeom>
          <a:solidFill>
            <a:srgbClr val="F4F7F5"/>
          </a:solidFill>
          <a:ln w="12700">
            <a:solidFill>
              <a:srgbClr val="7FB299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7" name="Shape 5"/>
          <p:cNvSpPr/>
          <p:nvPr/>
        </p:nvSpPr>
        <p:spPr>
          <a:xfrm>
            <a:off x="713232" y="2531364"/>
            <a:ext cx="438912" cy="438912"/>
          </a:xfrm>
          <a:prstGeom prst="ellipse">
            <a:avLst/>
          </a:prstGeom>
          <a:solidFill>
            <a:srgbClr val="1B4B43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8" name="Text 6"/>
          <p:cNvSpPr/>
          <p:nvPr/>
        </p:nvSpPr>
        <p:spPr>
          <a:xfrm>
            <a:off x="713232" y="253136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98448" y="2103120"/>
            <a:ext cx="4526280" cy="1295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direct question instead of guessing — it's faster than reworking a wrong assumption later.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72200" y="2103120"/>
            <a:ext cx="5440680" cy="1295400"/>
          </a:xfrm>
          <a:prstGeom prst="roundRect">
            <a:avLst>
              <a:gd name="adj" fmla="val 5647"/>
            </a:avLst>
          </a:prstGeom>
          <a:solidFill>
            <a:srgbClr val="F4F7F5"/>
          </a:solidFill>
          <a:ln w="12700">
            <a:solidFill>
              <a:srgbClr val="7FB299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1" name="Shape 9"/>
          <p:cNvSpPr/>
          <p:nvPr/>
        </p:nvSpPr>
        <p:spPr>
          <a:xfrm>
            <a:off x="6336792" y="2531364"/>
            <a:ext cx="438912" cy="438912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2" name="Text 10"/>
          <p:cNvSpPr/>
          <p:nvPr/>
        </p:nvSpPr>
        <p:spPr>
          <a:xfrm>
            <a:off x="6336792" y="253136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922008" y="2103120"/>
            <a:ext cx="4526280" cy="1295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your workload: do the most important task first, not the easiest one.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535680"/>
            <a:ext cx="5440680" cy="1295400"/>
          </a:xfrm>
          <a:prstGeom prst="roundRect">
            <a:avLst>
              <a:gd name="adj" fmla="val 5647"/>
            </a:avLst>
          </a:prstGeom>
          <a:solidFill>
            <a:srgbClr val="F4F7F5"/>
          </a:solidFill>
          <a:ln w="12700">
            <a:solidFill>
              <a:srgbClr val="7FB299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5" name="Shape 13"/>
          <p:cNvSpPr/>
          <p:nvPr/>
        </p:nvSpPr>
        <p:spPr>
          <a:xfrm>
            <a:off x="713232" y="3963924"/>
            <a:ext cx="438912" cy="438912"/>
          </a:xfrm>
          <a:prstGeom prst="ellipse">
            <a:avLst/>
          </a:prstGeom>
          <a:solidFill>
            <a:srgbClr val="1B4B43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6" name="Text 14"/>
          <p:cNvSpPr/>
          <p:nvPr/>
        </p:nvSpPr>
        <p:spPr>
          <a:xfrm>
            <a:off x="713232" y="3963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98448" y="3535680"/>
            <a:ext cx="4526280" cy="1295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big blocks of free time for big tasks that need deep focus; save small gaps for quick jobs.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72200" y="3535680"/>
            <a:ext cx="5440680" cy="1295400"/>
          </a:xfrm>
          <a:prstGeom prst="roundRect">
            <a:avLst>
              <a:gd name="adj" fmla="val 5647"/>
            </a:avLst>
          </a:prstGeom>
          <a:solidFill>
            <a:srgbClr val="F4F7F5"/>
          </a:solidFill>
          <a:ln w="12700">
            <a:solidFill>
              <a:srgbClr val="7FB299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9" name="Shape 17"/>
          <p:cNvSpPr/>
          <p:nvPr/>
        </p:nvSpPr>
        <p:spPr>
          <a:xfrm>
            <a:off x="6336792" y="3963924"/>
            <a:ext cx="438912" cy="438912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20" name="Text 18"/>
          <p:cNvSpPr/>
          <p:nvPr/>
        </p:nvSpPr>
        <p:spPr>
          <a:xfrm>
            <a:off x="6336792" y="3963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922008" y="3535680"/>
            <a:ext cx="4526280" cy="1295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big projects into smaller planned steps with their own mini-deadlines.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968240"/>
            <a:ext cx="5440680" cy="1295400"/>
          </a:xfrm>
          <a:prstGeom prst="roundRect">
            <a:avLst>
              <a:gd name="adj" fmla="val 5647"/>
            </a:avLst>
          </a:prstGeom>
          <a:solidFill>
            <a:srgbClr val="F4F7F5"/>
          </a:solidFill>
          <a:ln w="12700">
            <a:solidFill>
              <a:srgbClr val="7FB299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3" name="Shape 21"/>
          <p:cNvSpPr/>
          <p:nvPr/>
        </p:nvSpPr>
        <p:spPr>
          <a:xfrm>
            <a:off x="713232" y="5396484"/>
            <a:ext cx="438912" cy="438912"/>
          </a:xfrm>
          <a:prstGeom prst="ellipse">
            <a:avLst/>
          </a:prstGeom>
          <a:solidFill>
            <a:srgbClr val="1B4B43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24" name="Text 22"/>
          <p:cNvSpPr/>
          <p:nvPr/>
        </p:nvSpPr>
        <p:spPr>
          <a:xfrm>
            <a:off x="713232" y="539648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298448" y="4968240"/>
            <a:ext cx="4526280" cy="1295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all your materials for one subject in one place so you're not hunting for them.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172200" y="4968240"/>
            <a:ext cx="5440680" cy="1295400"/>
          </a:xfrm>
          <a:prstGeom prst="roundRect">
            <a:avLst>
              <a:gd name="adj" fmla="val 5647"/>
            </a:avLst>
          </a:prstGeom>
          <a:solidFill>
            <a:srgbClr val="F4F7F5"/>
          </a:solidFill>
          <a:ln w="12700">
            <a:solidFill>
              <a:srgbClr val="7FB299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7" name="Shape 25"/>
          <p:cNvSpPr/>
          <p:nvPr/>
        </p:nvSpPr>
        <p:spPr>
          <a:xfrm>
            <a:off x="6336792" y="5396484"/>
            <a:ext cx="438912" cy="438912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28" name="Text 26"/>
          <p:cNvSpPr/>
          <p:nvPr/>
        </p:nvSpPr>
        <p:spPr>
          <a:xfrm>
            <a:off x="6336792" y="539648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922008" y="4968240"/>
            <a:ext cx="4526280" cy="1295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similar small tasks together (emails, filing notes) instead of switching constantly.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Skills Masterclass</a:t>
            </a:r>
            <a:endParaRPr lang="en-US" sz="1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21 · TEN WAYS TO HAVE FUN WHILE STUDYING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Ways to Enjoy Studying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75720" y="-502920"/>
            <a:ext cx="1463040" cy="1463040"/>
          </a:xfrm>
          <a:prstGeom prst="ellipse">
            <a:avLst/>
          </a:prstGeom>
          <a:solidFill>
            <a:srgbClr val="E4EFE8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doesn't have to mean sitting alone in silence — variety keeps motivation up.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5440680" cy="1295400"/>
          </a:xfrm>
          <a:prstGeom prst="roundRect">
            <a:avLst>
              <a:gd name="adj" fmla="val 5647"/>
            </a:avLst>
          </a:prstGeom>
          <a:solidFill>
            <a:srgbClr val="F4F7F5"/>
          </a:solidFill>
          <a:ln w="12700">
            <a:solidFill>
              <a:srgbClr val="7FB299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7" name="Shape 5"/>
          <p:cNvSpPr/>
          <p:nvPr/>
        </p:nvSpPr>
        <p:spPr>
          <a:xfrm>
            <a:off x="713232" y="2531364"/>
            <a:ext cx="438912" cy="438912"/>
          </a:xfrm>
          <a:prstGeom prst="ellipse">
            <a:avLst/>
          </a:prstGeom>
          <a:solidFill>
            <a:srgbClr val="1B4B43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8" name="Text 6"/>
          <p:cNvSpPr/>
          <p:nvPr/>
        </p:nvSpPr>
        <p:spPr>
          <a:xfrm>
            <a:off x="713232" y="253136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98448" y="2103120"/>
            <a:ext cx="4526280" cy="1295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a study group so you're learning with others, not just for others.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72200" y="2103120"/>
            <a:ext cx="5440680" cy="1295400"/>
          </a:xfrm>
          <a:prstGeom prst="roundRect">
            <a:avLst>
              <a:gd name="adj" fmla="val 5647"/>
            </a:avLst>
          </a:prstGeom>
          <a:solidFill>
            <a:srgbClr val="F4F7F5"/>
          </a:solidFill>
          <a:ln w="12700">
            <a:solidFill>
              <a:srgbClr val="7FB299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1" name="Shape 9"/>
          <p:cNvSpPr/>
          <p:nvPr/>
        </p:nvSpPr>
        <p:spPr>
          <a:xfrm>
            <a:off x="6336792" y="2531364"/>
            <a:ext cx="438912" cy="438912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2" name="Text 10"/>
          <p:cNvSpPr/>
          <p:nvPr/>
        </p:nvSpPr>
        <p:spPr>
          <a:xfrm>
            <a:off x="6336792" y="253136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922008" y="2103120"/>
            <a:ext cx="4526280" cy="1295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involved in a club or activity connected to your subject — it makes the material feel real.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535680"/>
            <a:ext cx="5440680" cy="1295400"/>
          </a:xfrm>
          <a:prstGeom prst="roundRect">
            <a:avLst>
              <a:gd name="adj" fmla="val 5647"/>
            </a:avLst>
          </a:prstGeom>
          <a:solidFill>
            <a:srgbClr val="F4F7F5"/>
          </a:solidFill>
          <a:ln w="12700">
            <a:solidFill>
              <a:srgbClr val="7FB299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5" name="Shape 13"/>
          <p:cNvSpPr/>
          <p:nvPr/>
        </p:nvSpPr>
        <p:spPr>
          <a:xfrm>
            <a:off x="713232" y="3963924"/>
            <a:ext cx="438912" cy="438912"/>
          </a:xfrm>
          <a:prstGeom prst="ellipse">
            <a:avLst/>
          </a:prstGeom>
          <a:solidFill>
            <a:srgbClr val="1B4B43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6" name="Text 14"/>
          <p:cNvSpPr/>
          <p:nvPr/>
        </p:nvSpPr>
        <p:spPr>
          <a:xfrm>
            <a:off x="713232" y="3963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98448" y="3535680"/>
            <a:ext cx="4526280" cy="1295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 or help out locally in an area connected to what you're studying.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72200" y="3535680"/>
            <a:ext cx="5440680" cy="1295400"/>
          </a:xfrm>
          <a:prstGeom prst="roundRect">
            <a:avLst>
              <a:gd name="adj" fmla="val 5647"/>
            </a:avLst>
          </a:prstGeom>
          <a:solidFill>
            <a:srgbClr val="F4F7F5"/>
          </a:solidFill>
          <a:ln w="12700">
            <a:solidFill>
              <a:srgbClr val="7FB299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9" name="Shape 17"/>
          <p:cNvSpPr/>
          <p:nvPr/>
        </p:nvSpPr>
        <p:spPr>
          <a:xfrm>
            <a:off x="6336792" y="3963924"/>
            <a:ext cx="438912" cy="438912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20" name="Text 18"/>
          <p:cNvSpPr/>
          <p:nvPr/>
        </p:nvSpPr>
        <p:spPr>
          <a:xfrm>
            <a:off x="6336792" y="3963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922008" y="3535680"/>
            <a:ext cx="4526280" cy="1295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on a small mentoring or coaching role — teaching something is one of the best ways to understand it.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968240"/>
            <a:ext cx="5440680" cy="1295400"/>
          </a:xfrm>
          <a:prstGeom prst="roundRect">
            <a:avLst>
              <a:gd name="adj" fmla="val 5647"/>
            </a:avLst>
          </a:prstGeom>
          <a:solidFill>
            <a:srgbClr val="F4F7F5"/>
          </a:solidFill>
          <a:ln w="12700">
            <a:solidFill>
              <a:srgbClr val="7FB299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3" name="Shape 21"/>
          <p:cNvSpPr/>
          <p:nvPr/>
        </p:nvSpPr>
        <p:spPr>
          <a:xfrm>
            <a:off x="713232" y="5396484"/>
            <a:ext cx="438912" cy="438912"/>
          </a:xfrm>
          <a:prstGeom prst="ellipse">
            <a:avLst/>
          </a:prstGeom>
          <a:solidFill>
            <a:srgbClr val="1B4B43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24" name="Text 22"/>
          <p:cNvSpPr/>
          <p:nvPr/>
        </p:nvSpPr>
        <p:spPr>
          <a:xfrm>
            <a:off x="713232" y="539648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298448" y="4968240"/>
            <a:ext cx="4526280" cy="1295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locations: library, kitchen table, a park bench — a change of scene can refresh focus.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172200" y="4968240"/>
            <a:ext cx="5440680" cy="1295400"/>
          </a:xfrm>
          <a:prstGeom prst="roundRect">
            <a:avLst>
              <a:gd name="adj" fmla="val 5647"/>
            </a:avLst>
          </a:prstGeom>
          <a:solidFill>
            <a:srgbClr val="F4F7F5"/>
          </a:solidFill>
          <a:ln w="12700">
            <a:solidFill>
              <a:srgbClr val="7FB299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7" name="Shape 25"/>
          <p:cNvSpPr/>
          <p:nvPr/>
        </p:nvSpPr>
        <p:spPr>
          <a:xfrm>
            <a:off x="6336792" y="5396484"/>
            <a:ext cx="438912" cy="438912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28" name="Text 26"/>
          <p:cNvSpPr/>
          <p:nvPr/>
        </p:nvSpPr>
        <p:spPr>
          <a:xfrm>
            <a:off x="6336792" y="539648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922008" y="4968240"/>
            <a:ext cx="4526280" cy="1295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Celebrate finishing a task, not just finishing the whole course — small wins keep momentum going.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Skills Masterclass</a:t>
            </a:r>
            <a:endParaRPr lang="en-US" sz="10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22 · TEN ESSAY-WRITING TIPS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Essay-Writing Quick Tips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75720" y="-502920"/>
            <a:ext cx="1463040" cy="1463040"/>
          </a:xfrm>
          <a:prstGeom prst="ellipse">
            <a:avLst/>
          </a:prstGeom>
          <a:solidFill>
            <a:srgbClr val="E4EFE8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checks to run before you call an essay finished.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5440680" cy="1295400"/>
          </a:xfrm>
          <a:prstGeom prst="roundRect">
            <a:avLst>
              <a:gd name="adj" fmla="val 5647"/>
            </a:avLst>
          </a:prstGeom>
          <a:solidFill>
            <a:srgbClr val="F4F7F5"/>
          </a:solidFill>
          <a:ln w="12700">
            <a:solidFill>
              <a:srgbClr val="7FB299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7" name="Shape 5"/>
          <p:cNvSpPr/>
          <p:nvPr/>
        </p:nvSpPr>
        <p:spPr>
          <a:xfrm>
            <a:off x="713232" y="2531364"/>
            <a:ext cx="438912" cy="438912"/>
          </a:xfrm>
          <a:prstGeom prst="ellipse">
            <a:avLst/>
          </a:prstGeom>
          <a:solidFill>
            <a:srgbClr val="1B4B43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8" name="Text 6"/>
          <p:cNvSpPr/>
          <p:nvPr/>
        </p:nvSpPr>
        <p:spPr>
          <a:xfrm>
            <a:off x="713232" y="253136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98448" y="2103120"/>
            <a:ext cx="4526280" cy="1295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Reread the question after you finish — does your essay actually answer it?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72200" y="2103120"/>
            <a:ext cx="5440680" cy="1295400"/>
          </a:xfrm>
          <a:prstGeom prst="roundRect">
            <a:avLst>
              <a:gd name="adj" fmla="val 5647"/>
            </a:avLst>
          </a:prstGeom>
          <a:solidFill>
            <a:srgbClr val="F4F7F5"/>
          </a:solidFill>
          <a:ln w="12700">
            <a:solidFill>
              <a:srgbClr val="7FB299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1" name="Shape 9"/>
          <p:cNvSpPr/>
          <p:nvPr/>
        </p:nvSpPr>
        <p:spPr>
          <a:xfrm>
            <a:off x="6336792" y="2531364"/>
            <a:ext cx="438912" cy="438912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2" name="Text 10"/>
          <p:cNvSpPr/>
          <p:nvPr/>
        </p:nvSpPr>
        <p:spPr>
          <a:xfrm>
            <a:off x="6336792" y="253136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922008" y="2103120"/>
            <a:ext cx="4526280" cy="1295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any key terms from the question early in your essay.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535680"/>
            <a:ext cx="5440680" cy="1295400"/>
          </a:xfrm>
          <a:prstGeom prst="roundRect">
            <a:avLst>
              <a:gd name="adj" fmla="val 5647"/>
            </a:avLst>
          </a:prstGeom>
          <a:solidFill>
            <a:srgbClr val="F4F7F5"/>
          </a:solidFill>
          <a:ln w="12700">
            <a:solidFill>
              <a:srgbClr val="7FB299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5" name="Shape 13"/>
          <p:cNvSpPr/>
          <p:nvPr/>
        </p:nvSpPr>
        <p:spPr>
          <a:xfrm>
            <a:off x="713232" y="3963924"/>
            <a:ext cx="438912" cy="438912"/>
          </a:xfrm>
          <a:prstGeom prst="ellipse">
            <a:avLst/>
          </a:prstGeom>
          <a:solidFill>
            <a:srgbClr val="1B4B43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6" name="Text 14"/>
          <p:cNvSpPr/>
          <p:nvPr/>
        </p:nvSpPr>
        <p:spPr>
          <a:xfrm>
            <a:off x="713232" y="3963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98448" y="3535680"/>
            <a:ext cx="4526280" cy="1295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your own voice — don't just string quotations together.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72200" y="3535680"/>
            <a:ext cx="5440680" cy="1295400"/>
          </a:xfrm>
          <a:prstGeom prst="roundRect">
            <a:avLst>
              <a:gd name="adj" fmla="val 5647"/>
            </a:avLst>
          </a:prstGeom>
          <a:solidFill>
            <a:srgbClr val="F4F7F5"/>
          </a:solidFill>
          <a:ln w="12700">
            <a:solidFill>
              <a:srgbClr val="7FB299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9" name="Shape 17"/>
          <p:cNvSpPr/>
          <p:nvPr/>
        </p:nvSpPr>
        <p:spPr>
          <a:xfrm>
            <a:off x="6336792" y="3963924"/>
            <a:ext cx="438912" cy="438912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20" name="Text 18"/>
          <p:cNvSpPr/>
          <p:nvPr/>
        </p:nvSpPr>
        <p:spPr>
          <a:xfrm>
            <a:off x="6336792" y="3963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922008" y="3535680"/>
            <a:ext cx="4526280" cy="1295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verb tenses are consistent throughout.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968240"/>
            <a:ext cx="5440680" cy="1295400"/>
          </a:xfrm>
          <a:prstGeom prst="roundRect">
            <a:avLst>
              <a:gd name="adj" fmla="val 5647"/>
            </a:avLst>
          </a:prstGeom>
          <a:solidFill>
            <a:srgbClr val="F4F7F5"/>
          </a:solidFill>
          <a:ln w="12700">
            <a:solidFill>
              <a:srgbClr val="7FB299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3" name="Shape 21"/>
          <p:cNvSpPr/>
          <p:nvPr/>
        </p:nvSpPr>
        <p:spPr>
          <a:xfrm>
            <a:off x="713232" y="5396484"/>
            <a:ext cx="438912" cy="438912"/>
          </a:xfrm>
          <a:prstGeom prst="ellipse">
            <a:avLst/>
          </a:prstGeom>
          <a:solidFill>
            <a:srgbClr val="1B4B43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24" name="Text 22"/>
          <p:cNvSpPr/>
          <p:nvPr/>
        </p:nvSpPr>
        <p:spPr>
          <a:xfrm>
            <a:off x="713232" y="539648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298448" y="4968240"/>
            <a:ext cx="4526280" cy="1295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time between finishing a draft and proofreading it — fresh eyes catch more.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172200" y="4968240"/>
            <a:ext cx="5440680" cy="1295400"/>
          </a:xfrm>
          <a:prstGeom prst="roundRect">
            <a:avLst>
              <a:gd name="adj" fmla="val 5647"/>
            </a:avLst>
          </a:prstGeom>
          <a:solidFill>
            <a:srgbClr val="F4F7F5"/>
          </a:solidFill>
          <a:ln w="12700">
            <a:solidFill>
              <a:srgbClr val="7FB299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7" name="Shape 25"/>
          <p:cNvSpPr/>
          <p:nvPr/>
        </p:nvSpPr>
        <p:spPr>
          <a:xfrm>
            <a:off x="6336792" y="5396484"/>
            <a:ext cx="438912" cy="438912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28" name="Text 26"/>
          <p:cNvSpPr/>
          <p:nvPr/>
        </p:nvSpPr>
        <p:spPr>
          <a:xfrm>
            <a:off x="6336792" y="539648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922008" y="4968240"/>
            <a:ext cx="4526280" cy="1295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am I satisfied this is my best work, or am I just out of time?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Skills Masterclass</a:t>
            </a:r>
            <a:endParaRPr lang="en-US" sz="10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UP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Summary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75720" y="-502920"/>
            <a:ext cx="1463040" cy="1463040"/>
          </a:xfrm>
          <a:prstGeom prst="ellipse">
            <a:avLst/>
          </a:prstGeom>
          <a:solidFill>
            <a:srgbClr val="E4EFE8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F4F7F5"/>
          </a:solidFill>
          <a:ln w="12700">
            <a:solidFill>
              <a:srgbClr val="7FB299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6" name="Shape 4"/>
          <p:cNvSpPr/>
          <p:nvPr/>
        </p:nvSpPr>
        <p:spPr>
          <a:xfrm>
            <a:off x="777240" y="1965960"/>
            <a:ext cx="502920" cy="502920"/>
          </a:xfrm>
          <a:prstGeom prst="ellipse">
            <a:avLst/>
          </a:prstGeom>
          <a:solidFill>
            <a:srgbClr val="1B4B43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7" name="Text 5"/>
          <p:cNvSpPr/>
          <p:nvPr/>
        </p:nvSpPr>
        <p:spPr>
          <a:xfrm>
            <a:off x="77724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1938528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2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 Yourself Up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65176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 your timetable, know your support network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51960" y="173736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F4F7F5"/>
          </a:solidFill>
          <a:ln w="12700">
            <a:solidFill>
              <a:srgbClr val="7FB299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1" name="Shape 9"/>
          <p:cNvSpPr/>
          <p:nvPr/>
        </p:nvSpPr>
        <p:spPr>
          <a:xfrm>
            <a:off x="4480560" y="1965960"/>
            <a:ext cx="502920" cy="502920"/>
          </a:xfrm>
          <a:prstGeom prst="ellipse">
            <a:avLst/>
          </a:prstGeom>
          <a:solidFill>
            <a:srgbClr val="1B4B43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2" name="Text 10"/>
          <p:cNvSpPr/>
          <p:nvPr/>
        </p:nvSpPr>
        <p:spPr>
          <a:xfrm>
            <a:off x="448056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120640" y="1938528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2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Active Learning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80560" y="265176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 in class, take useful notes, use feedback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955280" y="173736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F4F7F5"/>
          </a:solidFill>
          <a:ln w="12700">
            <a:solidFill>
              <a:srgbClr val="7FB299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6" name="Shape 14"/>
          <p:cNvSpPr/>
          <p:nvPr/>
        </p:nvSpPr>
        <p:spPr>
          <a:xfrm>
            <a:off x="8183880" y="1965960"/>
            <a:ext cx="502920" cy="502920"/>
          </a:xfrm>
          <a:prstGeom prst="ellipse">
            <a:avLst/>
          </a:prstGeom>
          <a:solidFill>
            <a:srgbClr val="1B4B43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7" name="Text 15"/>
          <p:cNvSpPr/>
          <p:nvPr/>
        </p:nvSpPr>
        <p:spPr>
          <a:xfrm>
            <a:off x="818388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823960" y="1938528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2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Gathering Evidence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83880" y="265176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well, evaluate sources, handle data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06908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F4F7F5"/>
          </a:solidFill>
          <a:ln w="12700">
            <a:solidFill>
              <a:srgbClr val="7FB299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1" name="Shape 19"/>
          <p:cNvSpPr/>
          <p:nvPr/>
        </p:nvSpPr>
        <p:spPr>
          <a:xfrm>
            <a:off x="777240" y="4297680"/>
            <a:ext cx="502920" cy="502920"/>
          </a:xfrm>
          <a:prstGeom prst="ellipse">
            <a:avLst/>
          </a:prstGeom>
          <a:solidFill>
            <a:srgbClr val="1B4B43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22" name="Text 20"/>
          <p:cNvSpPr/>
          <p:nvPr/>
        </p:nvSpPr>
        <p:spPr>
          <a:xfrm>
            <a:off x="777240" y="4297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17320" y="4270248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2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Writing It Down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77240" y="498348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Plan, structure and polish your writing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251960" y="406908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F4F7F5"/>
          </a:solidFill>
          <a:ln w="12700">
            <a:solidFill>
              <a:srgbClr val="7FB299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6" name="Shape 24"/>
          <p:cNvSpPr/>
          <p:nvPr/>
        </p:nvSpPr>
        <p:spPr>
          <a:xfrm>
            <a:off x="4480560" y="4297680"/>
            <a:ext cx="502920" cy="502920"/>
          </a:xfrm>
          <a:prstGeom prst="ellipse">
            <a:avLst/>
          </a:prstGeom>
          <a:solidFill>
            <a:srgbClr val="1B4B43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27" name="Text 25"/>
          <p:cNvSpPr/>
          <p:nvPr/>
        </p:nvSpPr>
        <p:spPr>
          <a:xfrm>
            <a:off x="4480560" y="4297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120640" y="4270248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2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480560" y="498348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Remember, revise, and walk in prepared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955280" y="406908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F4F7F5"/>
          </a:solidFill>
          <a:ln w="12700">
            <a:solidFill>
              <a:srgbClr val="7FB299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31" name="Shape 29"/>
          <p:cNvSpPr/>
          <p:nvPr/>
        </p:nvSpPr>
        <p:spPr>
          <a:xfrm>
            <a:off x="8183880" y="4297680"/>
            <a:ext cx="502920" cy="502920"/>
          </a:xfrm>
          <a:prstGeom prst="ellipse">
            <a:avLst/>
          </a:prstGeom>
          <a:solidFill>
            <a:srgbClr val="1B4B43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32" name="Text 30"/>
          <p:cNvSpPr/>
          <p:nvPr/>
        </p:nvSpPr>
        <p:spPr>
          <a:xfrm>
            <a:off x="8183880" y="4297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823960" y="4270248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2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of Tens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183880" y="498348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habits, big time savings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Summary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Skills Masterclass</a:t>
            </a:r>
            <a:endParaRPr lang="en-US" sz="10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 on Your Learning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75720" y="-502920"/>
            <a:ext cx="1463040" cy="1463040"/>
          </a:xfrm>
          <a:prstGeom prst="ellipse">
            <a:avLst/>
          </a:prstGeom>
          <a:solidFill>
            <a:srgbClr val="E4EFE8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five minutes to answer these for yourself — there's no need to share them unless you want to.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2368296"/>
            <a:ext cx="219456" cy="219456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7" name="Text 5"/>
          <p:cNvSpPr/>
          <p:nvPr/>
        </p:nvSpPr>
        <p:spPr>
          <a:xfrm>
            <a:off x="1051560" y="226771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study habit from this course I'm going to try this week is...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94360" y="2880360"/>
            <a:ext cx="219456" cy="219456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9" name="Text 7"/>
          <p:cNvSpPr/>
          <p:nvPr/>
        </p:nvSpPr>
        <p:spPr>
          <a:xfrm>
            <a:off x="1051560" y="2779776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thing I used to think about studying that I now see differently is...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94360" y="3392424"/>
            <a:ext cx="219456" cy="219456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1" name="Text 9"/>
          <p:cNvSpPr/>
          <p:nvPr/>
        </p:nvSpPr>
        <p:spPr>
          <a:xfrm>
            <a:off x="1051560" y="32918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unit I found most useful was... because...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94360" y="3904488"/>
            <a:ext cx="219456" cy="219456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3" name="Text 11"/>
          <p:cNvSpPr/>
          <p:nvPr/>
        </p:nvSpPr>
        <p:spPr>
          <a:xfrm>
            <a:off x="1051560" y="3803904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question I still have is...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48640" y="4471416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E4EFE8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5" name="Text 13"/>
          <p:cNvSpPr/>
          <p:nvPr/>
        </p:nvSpPr>
        <p:spPr>
          <a:xfrm>
            <a:off x="777240" y="4471416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2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no single right answer here — the goal is honest reflection, not a graded response.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Skills Masterclass</a:t>
            </a:r>
            <a:endParaRPr lang="en-US" sz="10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FURTHER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Extension Activity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75720" y="-502920"/>
            <a:ext cx="1463040" cy="1463040"/>
          </a:xfrm>
          <a:prstGeom prst="ellipse">
            <a:avLst/>
          </a:prstGeom>
          <a:solidFill>
            <a:srgbClr val="E4EFE8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1B4B43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25880" y="1709928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it to a real subject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325880" y="2048256"/>
            <a:ext cx="10241280" cy="1203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subject you're currently studying. Build a one-week study timetable, a set of Cornell notes for your next lesson, and a mini revision plan for your next test.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30708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7FB299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0" name="Text 8"/>
          <p:cNvSpPr/>
          <p:nvPr/>
        </p:nvSpPr>
        <p:spPr>
          <a:xfrm>
            <a:off x="548640" y="33070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25880" y="3279648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someone else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325880" y="3617976"/>
            <a:ext cx="10241280" cy="1203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one strategy from this course to a friend or family member — teaching it is one of the best ways to check you really understand it.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87680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1B4B43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4" name="Text 12"/>
          <p:cNvSpPr/>
          <p:nvPr/>
        </p:nvSpPr>
        <p:spPr>
          <a:xfrm>
            <a:off x="548640" y="48768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25880" y="4849368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your sources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1325880" y="5187696"/>
            <a:ext cx="10241280" cy="1203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back at your last research-based piece of work and check every source against the four questions from Unit 3: who, what evidence, when, why.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Skills Masterclass</a:t>
            </a:r>
            <a:endParaRPr lang="en-US" sz="10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COURSE CAME FROM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 &amp; References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75720" y="-502920"/>
            <a:ext cx="1463040" cy="1463040"/>
          </a:xfrm>
          <a:prstGeom prst="ellipse">
            <a:avLst/>
          </a:prstGeom>
          <a:solidFill>
            <a:srgbClr val="E4EFE8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source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Boulay, Doreen. Study Skills For Dummies. Chichester: John Wiley &amp; Sons, 2010.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Adaptation notes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01752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course reframes the book's university-level content for a secondary-school audience: terms like 'tutor' and 'seminar' become 'teacher' and 'class discussion,' and highly university-specific administrative detail has been trimmed. Core strategies — planning, critical thinking, active learning, research, writing structure, memory and exam technique — are drawn directly from the source and adapted with everyday classroom examples.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43434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6634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 school's specific policies (citation style, late-work rules, support-service names) differ from the general examples used here, follow your own school's guidance.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Skills Masterclass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6841</Words>
  <Application>Microsoft Office PowerPoint</Application>
  <PresentationFormat>Widescreen</PresentationFormat>
  <Paragraphs>834</Paragraphs>
  <Slides>63</Slides>
  <Notes>63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6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Paul Reynolds</cp:lastModifiedBy>
  <cp:revision>3</cp:revision>
  <dcterms:created xsi:type="dcterms:W3CDTF">2026-08-20T07:38:30Z</dcterms:created>
  <dcterms:modified xsi:type="dcterms:W3CDTF">2026-08-26T04:57:43Z</dcterms:modified>
</cp:coreProperties>
</file>